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108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FFFFFF"/>
                </a:solidFill>
                <a:latin typeface="Arial"/>
              </a:defRPr>
            </a:pPr>
            <a:r>
              <a:rPr sz="1300" b="0" i="0" u="none" strike="noStrike">
                <a:solidFill>
                  <a:srgbClr val="FFFFFF"/>
                </a:solidFill>
                <a:latin typeface="Arial"/>
              </a:rPr>
              <a:t>Illustrative D2s v5 hourly rate comparison</a:t>
            </a:r>
          </a:p>
        </c:rich>
      </c:tx>
      <c:overlay val="0"/>
    </c:title>
    <c:autoTitleDeleted val="0"/>
    <c:plotArea>
      <c:layout/>
      <c:barChart>
        <c:barDir val="col"/>
        <c:grouping val="clustered"/>
        <c:varyColors val="0"/>
        <c:ser>
          <c:idx val="0"/>
          <c:order val="0"/>
          <c:tx>
            <c:strRef>
              <c:f>Sheet1!$B$1</c:f>
              <c:strCache>
                <c:ptCount val="1"/>
                <c:pt idx="0">
                  <c:v>Estimated hourly cost (USD, illustrative)</c:v>
                </c:pt>
              </c:strCache>
            </c:strRef>
          </c:tx>
          <c:spPr>
            <a:solidFill>
              <a:srgbClr val="0078D4"/>
            </a:solidFill>
            <a:effectLst/>
          </c:spPr>
          <c:invertIfNegative val="0"/>
          <c:dLbls>
            <c:numFmt formatCode="&quot;$&quot;0.000" sourceLinked="0"/>
            <c:spPr>
              <a:noFill/>
              <a:ln>
                <a:noFill/>
              </a:ln>
              <a:effectLst/>
            </c:spPr>
            <c:txPr>
              <a:bodyPr/>
              <a:lstStyle/>
              <a:p>
                <a:pPr>
                  <a:defRPr sz="11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Pay-as-you-go</c:v>
                </c:pt>
                <c:pt idx="1">
                  <c:v>1-yr Reserved</c:v>
                </c:pt>
                <c:pt idx="2">
                  <c:v>Azure Spot</c:v>
                </c:pt>
              </c:strCache>
            </c:strRef>
          </c:cat>
          <c:val>
            <c:numRef>
              <c:f>Sheet1!$B$2:$B$4</c:f>
              <c:numCache>
                <c:formatCode>General</c:formatCode>
                <c:ptCount val="3"/>
                <c:pt idx="0">
                  <c:v>0.192</c:v>
                </c:pt>
                <c:pt idx="1">
                  <c:v>0.122</c:v>
                </c:pt>
                <c:pt idx="2">
                  <c:v>2.4E-2</c:v>
                </c:pt>
              </c:numCache>
            </c:numRef>
          </c:val>
          <c:extLst>
            <c:ext xmlns:c16="http://schemas.microsoft.com/office/drawing/2014/chart" uri="{C3380CC4-5D6E-409C-BE32-E72D297353CC}">
              <c16:uniqueId val="{00000000-36BA-4F9F-9C03-844C271D9CE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2A3D5C"/>
            </a:solidFill>
            <a:prstDash val="solid"/>
            <a:round/>
          </a:ln>
        </c:spPr>
        <c:txPr>
          <a:bodyPr/>
          <a:lstStyle/>
          <a:p>
            <a:pPr>
              <a:defRPr sz="1200" b="0" i="0" u="none" strike="noStrike">
                <a:solidFill>
                  <a:srgbClr val="AAB9CE"/>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1E3050"/>
              </a:solidFill>
              <a:prstDash val="solid"/>
              <a:round/>
            </a:ln>
          </c:spPr>
        </c:majorGridlines>
        <c:numFmt formatCode="General" sourceLinked="0"/>
        <c:majorTickMark val="out"/>
        <c:minorTickMark val="none"/>
        <c:tickLblPos val="nextTo"/>
        <c:spPr>
          <a:ln w="12700" cap="flat">
            <a:solidFill>
              <a:srgbClr val="2A3D5C"/>
            </a:solidFill>
            <a:prstDash val="solid"/>
            <a:round/>
          </a:ln>
        </c:spPr>
        <c:txPr>
          <a:bodyPr/>
          <a:lstStyle/>
          <a:p>
            <a:pPr>
              <a:defRPr sz="1200" b="0" i="0" u="none" strike="noStrike">
                <a:solidFill>
                  <a:srgbClr val="AAB9CE"/>
                </a:solidFill>
                <a:latin typeface="Arial"/>
              </a:defRPr>
            </a:pPr>
            <a:endParaRPr lang="en-US"/>
          </a:p>
        </c:txPr>
        <c:crossAx val="2094734554"/>
        <c:crosses val="autoZero"/>
        <c:crossBetween val="between"/>
      </c:valAx>
      <c:spPr>
        <a:solidFill>
          <a:srgbClr val="0B1F3B"/>
        </a:solidFill>
        <a:ln>
          <a:noFill/>
        </a:ln>
        <a:effectLst/>
      </c:spPr>
    </c:plotArea>
    <c:plotVisOnly val="1"/>
    <c:dispBlanksAs val="span"/>
    <c:showDLblsOverMax val="1"/>
  </c:chart>
  <c:spPr>
    <a:solidFill>
      <a:srgbClr val="0B1F3B"/>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041856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2.png"/><Relationship Id="rId7"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0.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B"/>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132A4E"/>
          </a:solidFill>
          <a:ln/>
        </p:spPr>
      </p:sp>
      <p:sp>
        <p:nvSpPr>
          <p:cNvPr id="3" name="Shape 1"/>
          <p:cNvSpPr/>
          <p:nvPr/>
        </p:nvSpPr>
        <p:spPr>
          <a:xfrm>
            <a:off x="-1828800" y="4663440"/>
            <a:ext cx="4206240" cy="4206240"/>
          </a:xfrm>
          <a:prstGeom prst="ellipse">
            <a:avLst/>
          </a:prstGeom>
          <a:ln w="19050">
            <a:solidFill>
              <a:srgbClr val="0078D4"/>
            </a:solidFill>
            <a:prstDash val="solid"/>
          </a:ln>
        </p:spPr>
      </p:sp>
      <p:sp>
        <p:nvSpPr>
          <p:cNvPr id="4" name="Shape 2"/>
          <p:cNvSpPr/>
          <p:nvPr/>
        </p:nvSpPr>
        <p:spPr>
          <a:xfrm>
            <a:off x="822960" y="960120"/>
            <a:ext cx="868680" cy="868680"/>
          </a:xfrm>
          <a:prstGeom prst="ellipse">
            <a:avLst/>
          </a:prstGeom>
          <a:solidFill>
            <a:srgbClr val="0078D4"/>
          </a:solidFill>
          <a:ln/>
        </p:spPr>
      </p:sp>
      <p:pic>
        <p:nvPicPr>
          <p:cNvPr id="5" name="Image 0" descr="preencoded.png"/>
          <p:cNvPicPr>
            <a:picLocks noChangeAspect="1"/>
          </p:cNvPicPr>
          <p:nvPr/>
        </p:nvPicPr>
        <p:blipFill>
          <a:blip r:embed="rId3"/>
          <a:stretch>
            <a:fillRect/>
          </a:stretch>
        </p:blipFill>
        <p:spPr>
          <a:xfrm>
            <a:off x="935888" y="1073048"/>
            <a:ext cx="642823" cy="642823"/>
          </a:xfrm>
          <a:prstGeom prst="rect">
            <a:avLst/>
          </a:prstGeom>
        </p:spPr>
      </p:pic>
      <p:sp>
        <p:nvSpPr>
          <p:cNvPr id="6" name="Text 3"/>
          <p:cNvSpPr txBox="1"/>
          <p:nvPr/>
        </p:nvSpPr>
        <p:spPr>
          <a:xfrm>
            <a:off x="822960" y="2057400"/>
            <a:ext cx="7315200" cy="365760"/>
          </a:xfrm>
          <a:prstGeom prst="rect">
            <a:avLst/>
          </a:prstGeom>
          <a:noFill/>
          <a:ln/>
        </p:spPr>
        <p:txBody>
          <a:bodyPr wrap="square" rtlCol="0" anchor="ctr"/>
          <a:lstStyle/>
          <a:p>
            <a:pPr marL="0" indent="0">
              <a:buNone/>
            </a:pPr>
            <a:r>
              <a:rPr lang="en-US" sz="1400" b="1" kern="0" spc="300" dirty="0">
                <a:solidFill>
                  <a:srgbClr val="27E0C4"/>
                </a:solidFill>
                <a:latin typeface="Calibri" pitchFamily="34" charset="0"/>
                <a:ea typeface="Calibri" pitchFamily="34" charset="-122"/>
                <a:cs typeface="Calibri" pitchFamily="34" charset="-120"/>
              </a:rPr>
              <a:t>MICROSOFT AZURE</a:t>
            </a:r>
            <a:endParaRPr lang="en-US" sz="1400" dirty="0"/>
          </a:p>
        </p:txBody>
      </p:sp>
      <p:sp>
        <p:nvSpPr>
          <p:cNvPr id="7" name="Text 4"/>
          <p:cNvSpPr txBox="1"/>
          <p:nvPr/>
        </p:nvSpPr>
        <p:spPr>
          <a:xfrm>
            <a:off x="822960" y="2423160"/>
            <a:ext cx="9875520" cy="118872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Azure Spot Virtual Machines</a:t>
            </a:r>
            <a:endParaRPr lang="en-US" sz="4400" dirty="0"/>
          </a:p>
        </p:txBody>
      </p:sp>
      <p:sp>
        <p:nvSpPr>
          <p:cNvPr id="8" name="Text 5"/>
          <p:cNvSpPr txBox="1"/>
          <p:nvPr/>
        </p:nvSpPr>
        <p:spPr>
          <a:xfrm>
            <a:off x="822960" y="3429000"/>
            <a:ext cx="8686800" cy="548640"/>
          </a:xfrm>
          <a:prstGeom prst="rect">
            <a:avLst/>
          </a:prstGeom>
          <a:noFill/>
          <a:ln/>
        </p:spPr>
        <p:txBody>
          <a:bodyPr wrap="square" rtlCol="0" anchor="ctr"/>
          <a:lstStyle/>
          <a:p>
            <a:pPr marL="0" indent="0">
              <a:buNone/>
            </a:pPr>
            <a:r>
              <a:rPr lang="en-US" sz="1900" dirty="0">
                <a:solidFill>
                  <a:srgbClr val="C7D6EA"/>
                </a:solidFill>
                <a:latin typeface="Calibri" pitchFamily="34" charset="0"/>
                <a:ea typeface="Calibri" pitchFamily="34" charset="-122"/>
                <a:cs typeface="Calibri" pitchFamily="34" charset="-120"/>
              </a:rPr>
              <a:t>Unlocking cloud economics for interruptible workloads</a:t>
            </a:r>
            <a:endParaRPr lang="en-US" sz="1900" dirty="0"/>
          </a:p>
        </p:txBody>
      </p:sp>
      <p:sp>
        <p:nvSpPr>
          <p:cNvPr id="9" name="Shape 6"/>
          <p:cNvSpPr/>
          <p:nvPr/>
        </p:nvSpPr>
        <p:spPr>
          <a:xfrm>
            <a:off x="822960" y="4160520"/>
            <a:ext cx="1097280" cy="0"/>
          </a:xfrm>
          <a:prstGeom prst="line">
            <a:avLst/>
          </a:prstGeom>
          <a:noFill/>
          <a:ln w="38100">
            <a:solidFill>
              <a:srgbClr val="27E0C4"/>
            </a:solidFill>
            <a:prstDash val="solid"/>
          </a:ln>
        </p:spPr>
      </p:sp>
      <p:sp>
        <p:nvSpPr>
          <p:cNvPr id="10" name="Text 7"/>
          <p:cNvSpPr txBox="1"/>
          <p:nvPr/>
        </p:nvSpPr>
        <p:spPr>
          <a:xfrm>
            <a:off x="822960" y="6126480"/>
            <a:ext cx="7315200" cy="365760"/>
          </a:xfrm>
          <a:prstGeom prst="rect">
            <a:avLst/>
          </a:prstGeom>
          <a:noFill/>
          <a:ln/>
        </p:spPr>
        <p:txBody>
          <a:bodyPr wrap="square" rtlCol="0" anchor="ctr"/>
          <a:lstStyle/>
          <a:p>
            <a:pPr marL="0" indent="0">
              <a:buNone/>
            </a:pPr>
            <a:r>
              <a:rPr lang="en-US" sz="1200" dirty="0">
                <a:solidFill>
                  <a:srgbClr val="8FA3BE"/>
                </a:solidFill>
                <a:latin typeface="Calibri" pitchFamily="34" charset="0"/>
                <a:ea typeface="Calibri" pitchFamily="34" charset="-122"/>
                <a:cs typeface="Calibri" pitchFamily="34" charset="-120"/>
              </a:rPr>
              <a:t>Presented for: Cloud Cost Optimization Session</a:t>
            </a:r>
            <a:endParaRPr lang="en-US" sz="1200" dirty="0"/>
          </a:p>
        </p:txBody>
      </p:sp>
      <p:sp>
        <p:nvSpPr>
          <p:cNvPr id="11" name="TextBox 10">
            <a:extLst>
              <a:ext uri="{FF2B5EF4-FFF2-40B4-BE49-F238E27FC236}">
                <a16:creationId xmlns:a16="http://schemas.microsoft.com/office/drawing/2014/main" id="{1C2BCAC3-C2DB-8535-2519-B2E72C9828B4}"/>
              </a:ext>
            </a:extLst>
          </p:cNvPr>
          <p:cNvSpPr txBox="1"/>
          <p:nvPr/>
        </p:nvSpPr>
        <p:spPr>
          <a:xfrm>
            <a:off x="822960" y="4505325"/>
            <a:ext cx="5768340" cy="1200329"/>
          </a:xfrm>
          <a:prstGeom prst="rect">
            <a:avLst/>
          </a:prstGeom>
          <a:noFill/>
        </p:spPr>
        <p:txBody>
          <a:bodyPr wrap="square" rtlCol="0">
            <a:spAutoFit/>
          </a:bodyPr>
          <a:lstStyle/>
          <a:p>
            <a:r>
              <a:rPr lang="en-US" dirty="0">
                <a:solidFill>
                  <a:schemeClr val="bg1"/>
                </a:solidFill>
              </a:rPr>
              <a:t>2400031780 – D. Sonali</a:t>
            </a:r>
          </a:p>
          <a:p>
            <a:r>
              <a:rPr lang="en-US" dirty="0">
                <a:solidFill>
                  <a:schemeClr val="bg1"/>
                </a:solidFill>
              </a:rPr>
              <a:t>2400031986 – K. Pragathi</a:t>
            </a:r>
          </a:p>
          <a:p>
            <a:r>
              <a:rPr lang="en-US" dirty="0">
                <a:solidFill>
                  <a:schemeClr val="bg1"/>
                </a:solidFill>
              </a:rPr>
              <a:t>2400031958 – P. Giri</a:t>
            </a:r>
          </a:p>
          <a:p>
            <a:r>
              <a:rPr lang="en-US" dirty="0">
                <a:solidFill>
                  <a:schemeClr val="bg1"/>
                </a:solidFill>
              </a:rPr>
              <a:t>2400031879 – N. Karthikeya</a:t>
            </a:r>
            <a:endParaRPr lang="en-IN"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C"/>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9144000" cy="640080"/>
          </a:xfrm>
          <a:prstGeom prst="rect">
            <a:avLst/>
          </a:prstGeom>
          <a:noFill/>
          <a:ln/>
        </p:spPr>
        <p:txBody>
          <a:bodyPr wrap="square" rtlCol="0" anchor="ctr"/>
          <a:lstStyle/>
          <a:p>
            <a:pPr marL="0" indent="0">
              <a:buNone/>
            </a:pPr>
            <a:r>
              <a:rPr lang="en-US" sz="3200" b="1" dirty="0">
                <a:solidFill>
                  <a:srgbClr val="15243A"/>
                </a:solidFill>
                <a:latin typeface="Cambria" pitchFamily="34" charset="0"/>
                <a:ea typeface="Cambria" pitchFamily="34" charset="-122"/>
                <a:cs typeface="Cambria" pitchFamily="34" charset="-120"/>
              </a:rPr>
              <a:t>What We'll Cover</a:t>
            </a:r>
            <a:endParaRPr lang="en-US" sz="3200" dirty="0"/>
          </a:p>
        </p:txBody>
      </p:sp>
      <p:sp>
        <p:nvSpPr>
          <p:cNvPr id="3" name="Text 1"/>
          <p:cNvSpPr txBox="1"/>
          <p:nvPr/>
        </p:nvSpPr>
        <p:spPr>
          <a:xfrm>
            <a:off x="640080" y="1143000"/>
            <a:ext cx="9601200" cy="457200"/>
          </a:xfrm>
          <a:prstGeom prst="rect">
            <a:avLst/>
          </a:prstGeom>
          <a:noFill/>
          <a:ln/>
        </p:spPr>
        <p:txBody>
          <a:bodyPr wrap="square" rtlCol="0" anchor="ctr"/>
          <a:lstStyle/>
          <a:p>
            <a:pPr marL="0" indent="0">
              <a:buNone/>
            </a:pPr>
            <a:r>
              <a:rPr lang="en-US" sz="1400" dirty="0">
                <a:solidFill>
                  <a:srgbClr val="5B6B7F"/>
                </a:solidFill>
                <a:latin typeface="Calibri" pitchFamily="34" charset="0"/>
                <a:ea typeface="Calibri" pitchFamily="34" charset="-122"/>
                <a:cs typeface="Calibri" pitchFamily="34" charset="-120"/>
              </a:rPr>
              <a:t>A practical walkthrough of Azure Spot VMs for cost-sensitive, fault-tolerant workloads</a:t>
            </a:r>
            <a:endParaRPr lang="en-US" sz="1400" dirty="0"/>
          </a:p>
        </p:txBody>
      </p:sp>
      <p:sp>
        <p:nvSpPr>
          <p:cNvPr id="4" name="Shape 2"/>
          <p:cNvSpPr/>
          <p:nvPr/>
        </p:nvSpPr>
        <p:spPr>
          <a:xfrm>
            <a:off x="640080" y="1965960"/>
            <a:ext cx="3566160" cy="1828800"/>
          </a:xfrm>
          <a:prstGeom prst="roundRect">
            <a:avLst>
              <a:gd name="adj" fmla="val 4000"/>
            </a:avLst>
          </a:prstGeom>
          <a:solidFill>
            <a:srgbClr val="FFFFFF"/>
          </a:solidFill>
          <a:ln/>
          <a:effectLst>
            <a:outerShdw blurRad="76200" dist="25400" dir="5400000" algn="bl" rotWithShape="0">
              <a:srgbClr val="1B2A41">
                <a:alpha val="12000"/>
              </a:srgbClr>
            </a:outerShdw>
          </a:effectLst>
        </p:spPr>
      </p:sp>
      <p:sp>
        <p:nvSpPr>
          <p:cNvPr id="5" name="Shape 3"/>
          <p:cNvSpPr/>
          <p:nvPr/>
        </p:nvSpPr>
        <p:spPr>
          <a:xfrm>
            <a:off x="868680" y="2194560"/>
            <a:ext cx="548640" cy="548640"/>
          </a:xfrm>
          <a:prstGeom prst="ellipse">
            <a:avLst/>
          </a:prstGeom>
          <a:solidFill>
            <a:srgbClr val="0078D4"/>
          </a:solidFill>
          <a:ln/>
        </p:spPr>
      </p:sp>
      <p:pic>
        <p:nvPicPr>
          <p:cNvPr id="6" name="Image 0" descr="preencoded.png"/>
          <p:cNvPicPr>
            <a:picLocks noChangeAspect="1"/>
          </p:cNvPicPr>
          <p:nvPr/>
        </p:nvPicPr>
        <p:blipFill>
          <a:blip r:embed="rId3"/>
          <a:stretch>
            <a:fillRect/>
          </a:stretch>
        </p:blipFill>
        <p:spPr>
          <a:xfrm>
            <a:off x="940003" y="2265883"/>
            <a:ext cx="405994" cy="405994"/>
          </a:xfrm>
          <a:prstGeom prst="rect">
            <a:avLst/>
          </a:prstGeom>
        </p:spPr>
      </p:pic>
      <p:sp>
        <p:nvSpPr>
          <p:cNvPr id="7" name="Text 4"/>
          <p:cNvSpPr txBox="1"/>
          <p:nvPr/>
        </p:nvSpPr>
        <p:spPr>
          <a:xfrm>
            <a:off x="868680" y="2880360"/>
            <a:ext cx="3108960" cy="365760"/>
          </a:xfrm>
          <a:prstGeom prst="rect">
            <a:avLst/>
          </a:prstGeom>
          <a:noFill/>
          <a:ln/>
        </p:spPr>
        <p:txBody>
          <a:bodyPr wrap="square" rtlCol="0" anchor="ctr"/>
          <a:lstStyle/>
          <a:p>
            <a:pPr marL="0" indent="0">
              <a:buNone/>
            </a:pPr>
            <a:r>
              <a:rPr lang="en-US" sz="1500" b="1" dirty="0">
                <a:solidFill>
                  <a:srgbClr val="15243A"/>
                </a:solidFill>
                <a:latin typeface="Calibri" pitchFamily="34" charset="0"/>
                <a:ea typeface="Calibri" pitchFamily="34" charset="-122"/>
                <a:cs typeface="Calibri" pitchFamily="34" charset="-120"/>
              </a:rPr>
              <a:t>Pricing &amp; Savings</a:t>
            </a:r>
            <a:endParaRPr lang="en-US" sz="1500" dirty="0"/>
          </a:p>
        </p:txBody>
      </p:sp>
      <p:sp>
        <p:nvSpPr>
          <p:cNvPr id="8" name="Text 5"/>
          <p:cNvSpPr txBox="1"/>
          <p:nvPr/>
        </p:nvSpPr>
        <p:spPr>
          <a:xfrm>
            <a:off x="868680" y="3227832"/>
            <a:ext cx="3108960" cy="457200"/>
          </a:xfrm>
          <a:prstGeom prst="rect">
            <a:avLst/>
          </a:prstGeom>
          <a:noFill/>
          <a:ln/>
        </p:spPr>
        <p:txBody>
          <a:bodyPr wrap="square" rtlCol="0" anchor="ctr"/>
          <a:lstStyle/>
          <a:p>
            <a:pPr marL="0" indent="0">
              <a:buNone/>
            </a:pPr>
            <a:r>
              <a:rPr lang="en-US" sz="1100" dirty="0">
                <a:solidFill>
                  <a:srgbClr val="5B6B7F"/>
                </a:solidFill>
                <a:latin typeface="Calibri" pitchFamily="34" charset="0"/>
                <a:ea typeface="Calibri" pitchFamily="34" charset="-122"/>
                <a:cs typeface="Calibri" pitchFamily="34" charset="-120"/>
              </a:rPr>
              <a:t>How spot pricing works vs. pay-as-you-go</a:t>
            </a:r>
            <a:endParaRPr lang="en-US" sz="1100" dirty="0"/>
          </a:p>
        </p:txBody>
      </p:sp>
      <p:sp>
        <p:nvSpPr>
          <p:cNvPr id="9" name="Shape 6"/>
          <p:cNvSpPr/>
          <p:nvPr/>
        </p:nvSpPr>
        <p:spPr>
          <a:xfrm>
            <a:off x="4434840" y="1965960"/>
            <a:ext cx="3566160" cy="1828800"/>
          </a:xfrm>
          <a:prstGeom prst="roundRect">
            <a:avLst>
              <a:gd name="adj" fmla="val 4000"/>
            </a:avLst>
          </a:prstGeom>
          <a:solidFill>
            <a:srgbClr val="FFFFFF"/>
          </a:solidFill>
          <a:ln/>
          <a:effectLst>
            <a:outerShdw blurRad="76200" dist="25400" dir="5400000" algn="bl" rotWithShape="0">
              <a:srgbClr val="1B2A41">
                <a:alpha val="12000"/>
              </a:srgbClr>
            </a:outerShdw>
          </a:effectLst>
        </p:spPr>
      </p:sp>
      <p:sp>
        <p:nvSpPr>
          <p:cNvPr id="10" name="Shape 7"/>
          <p:cNvSpPr/>
          <p:nvPr/>
        </p:nvSpPr>
        <p:spPr>
          <a:xfrm>
            <a:off x="4663440" y="2194560"/>
            <a:ext cx="548640" cy="548640"/>
          </a:xfrm>
          <a:prstGeom prst="ellipse">
            <a:avLst/>
          </a:prstGeom>
          <a:solidFill>
            <a:srgbClr val="0078D4"/>
          </a:solidFill>
          <a:ln/>
        </p:spPr>
      </p:sp>
      <p:pic>
        <p:nvPicPr>
          <p:cNvPr id="11" name="Image 1" descr="preencoded.png"/>
          <p:cNvPicPr>
            <a:picLocks noChangeAspect="1"/>
          </p:cNvPicPr>
          <p:nvPr/>
        </p:nvPicPr>
        <p:blipFill>
          <a:blip r:embed="rId4"/>
          <a:stretch>
            <a:fillRect/>
          </a:stretch>
        </p:blipFill>
        <p:spPr>
          <a:xfrm>
            <a:off x="4734763" y="2265883"/>
            <a:ext cx="405994" cy="405994"/>
          </a:xfrm>
          <a:prstGeom prst="rect">
            <a:avLst/>
          </a:prstGeom>
        </p:spPr>
      </p:pic>
      <p:sp>
        <p:nvSpPr>
          <p:cNvPr id="12" name="Text 8"/>
          <p:cNvSpPr txBox="1"/>
          <p:nvPr/>
        </p:nvSpPr>
        <p:spPr>
          <a:xfrm>
            <a:off x="4663440" y="2880360"/>
            <a:ext cx="3108960" cy="365760"/>
          </a:xfrm>
          <a:prstGeom prst="rect">
            <a:avLst/>
          </a:prstGeom>
          <a:noFill/>
          <a:ln/>
        </p:spPr>
        <p:txBody>
          <a:bodyPr wrap="square" rtlCol="0" anchor="ctr"/>
          <a:lstStyle/>
          <a:p>
            <a:pPr marL="0" indent="0">
              <a:buNone/>
            </a:pPr>
            <a:r>
              <a:rPr lang="en-US" sz="1500" b="1" dirty="0">
                <a:solidFill>
                  <a:srgbClr val="15243A"/>
                </a:solidFill>
                <a:latin typeface="Calibri" pitchFamily="34" charset="0"/>
                <a:ea typeface="Calibri" pitchFamily="34" charset="-122"/>
                <a:cs typeface="Calibri" pitchFamily="34" charset="-120"/>
              </a:rPr>
              <a:t>Eviction Mechanics</a:t>
            </a:r>
            <a:endParaRPr lang="en-US" sz="1500" dirty="0"/>
          </a:p>
        </p:txBody>
      </p:sp>
      <p:sp>
        <p:nvSpPr>
          <p:cNvPr id="13" name="Text 9"/>
          <p:cNvSpPr txBox="1"/>
          <p:nvPr/>
        </p:nvSpPr>
        <p:spPr>
          <a:xfrm>
            <a:off x="4663440" y="3227832"/>
            <a:ext cx="3108960" cy="457200"/>
          </a:xfrm>
          <a:prstGeom prst="rect">
            <a:avLst/>
          </a:prstGeom>
          <a:noFill/>
          <a:ln/>
        </p:spPr>
        <p:txBody>
          <a:bodyPr wrap="square" rtlCol="0" anchor="ctr"/>
          <a:lstStyle/>
          <a:p>
            <a:pPr marL="0" indent="0">
              <a:buNone/>
            </a:pPr>
            <a:r>
              <a:rPr lang="en-US" sz="1100" dirty="0">
                <a:solidFill>
                  <a:srgbClr val="5B6B7F"/>
                </a:solidFill>
                <a:latin typeface="Calibri" pitchFamily="34" charset="0"/>
                <a:ea typeface="Calibri" pitchFamily="34" charset="-122"/>
                <a:cs typeface="Calibri" pitchFamily="34" charset="-120"/>
              </a:rPr>
              <a:t>Capacity reclamation and eviction policies</a:t>
            </a:r>
            <a:endParaRPr lang="en-US" sz="1100" dirty="0"/>
          </a:p>
        </p:txBody>
      </p:sp>
      <p:sp>
        <p:nvSpPr>
          <p:cNvPr id="14" name="Shape 10"/>
          <p:cNvSpPr/>
          <p:nvPr/>
        </p:nvSpPr>
        <p:spPr>
          <a:xfrm>
            <a:off x="8229600" y="1965960"/>
            <a:ext cx="3566160" cy="1828800"/>
          </a:xfrm>
          <a:prstGeom prst="roundRect">
            <a:avLst>
              <a:gd name="adj" fmla="val 4000"/>
            </a:avLst>
          </a:prstGeom>
          <a:solidFill>
            <a:srgbClr val="FFFFFF"/>
          </a:solidFill>
          <a:ln/>
          <a:effectLst>
            <a:outerShdw blurRad="76200" dist="25400" dir="5400000" algn="bl" rotWithShape="0">
              <a:srgbClr val="1B2A41">
                <a:alpha val="12000"/>
              </a:srgbClr>
            </a:outerShdw>
          </a:effectLst>
        </p:spPr>
      </p:sp>
      <p:sp>
        <p:nvSpPr>
          <p:cNvPr id="15" name="Shape 11"/>
          <p:cNvSpPr/>
          <p:nvPr/>
        </p:nvSpPr>
        <p:spPr>
          <a:xfrm>
            <a:off x="8458200" y="2194560"/>
            <a:ext cx="548640" cy="548640"/>
          </a:xfrm>
          <a:prstGeom prst="ellipse">
            <a:avLst/>
          </a:prstGeom>
          <a:solidFill>
            <a:srgbClr val="0078D4"/>
          </a:solidFill>
          <a:ln/>
        </p:spPr>
      </p:sp>
      <p:pic>
        <p:nvPicPr>
          <p:cNvPr id="16" name="Image 2" descr="preencoded.png"/>
          <p:cNvPicPr>
            <a:picLocks noChangeAspect="1"/>
          </p:cNvPicPr>
          <p:nvPr/>
        </p:nvPicPr>
        <p:blipFill>
          <a:blip r:embed="rId5"/>
          <a:stretch>
            <a:fillRect/>
          </a:stretch>
        </p:blipFill>
        <p:spPr>
          <a:xfrm>
            <a:off x="8529523" y="2265883"/>
            <a:ext cx="405994" cy="405994"/>
          </a:xfrm>
          <a:prstGeom prst="rect">
            <a:avLst/>
          </a:prstGeom>
        </p:spPr>
      </p:pic>
      <p:sp>
        <p:nvSpPr>
          <p:cNvPr id="17" name="Text 12"/>
          <p:cNvSpPr txBox="1"/>
          <p:nvPr/>
        </p:nvSpPr>
        <p:spPr>
          <a:xfrm>
            <a:off x="8458200" y="2880360"/>
            <a:ext cx="3108960" cy="365760"/>
          </a:xfrm>
          <a:prstGeom prst="rect">
            <a:avLst/>
          </a:prstGeom>
          <a:noFill/>
          <a:ln/>
        </p:spPr>
        <p:txBody>
          <a:bodyPr wrap="square" rtlCol="0" anchor="ctr"/>
          <a:lstStyle/>
          <a:p>
            <a:pPr marL="0" indent="0">
              <a:buNone/>
            </a:pPr>
            <a:r>
              <a:rPr lang="en-US" sz="1500" b="1" dirty="0">
                <a:solidFill>
                  <a:srgbClr val="15243A"/>
                </a:solidFill>
                <a:latin typeface="Calibri" pitchFamily="34" charset="0"/>
                <a:ea typeface="Calibri" pitchFamily="34" charset="-122"/>
                <a:cs typeface="Calibri" pitchFamily="34" charset="-120"/>
              </a:rPr>
              <a:t>Ideal Use Cases</a:t>
            </a:r>
            <a:endParaRPr lang="en-US" sz="1500" dirty="0"/>
          </a:p>
        </p:txBody>
      </p:sp>
      <p:sp>
        <p:nvSpPr>
          <p:cNvPr id="18" name="Text 13"/>
          <p:cNvSpPr txBox="1"/>
          <p:nvPr/>
        </p:nvSpPr>
        <p:spPr>
          <a:xfrm>
            <a:off x="8458200" y="3227832"/>
            <a:ext cx="3108960" cy="457200"/>
          </a:xfrm>
          <a:prstGeom prst="rect">
            <a:avLst/>
          </a:prstGeom>
          <a:noFill/>
          <a:ln/>
        </p:spPr>
        <p:txBody>
          <a:bodyPr wrap="square" rtlCol="0" anchor="ctr"/>
          <a:lstStyle/>
          <a:p>
            <a:pPr marL="0" indent="0">
              <a:buNone/>
            </a:pPr>
            <a:r>
              <a:rPr lang="en-US" sz="1100" dirty="0">
                <a:solidFill>
                  <a:srgbClr val="5B6B7F"/>
                </a:solidFill>
                <a:latin typeface="Calibri" pitchFamily="34" charset="0"/>
                <a:ea typeface="Calibri" pitchFamily="34" charset="-122"/>
                <a:cs typeface="Calibri" pitchFamily="34" charset="-120"/>
              </a:rPr>
              <a:t>Where interruptible compute shines</a:t>
            </a:r>
            <a:endParaRPr lang="en-US" sz="1100" dirty="0"/>
          </a:p>
        </p:txBody>
      </p:sp>
      <p:sp>
        <p:nvSpPr>
          <p:cNvPr id="19" name="Shape 14"/>
          <p:cNvSpPr/>
          <p:nvPr/>
        </p:nvSpPr>
        <p:spPr>
          <a:xfrm>
            <a:off x="640080" y="4023360"/>
            <a:ext cx="3566160" cy="1828800"/>
          </a:xfrm>
          <a:prstGeom prst="roundRect">
            <a:avLst>
              <a:gd name="adj" fmla="val 4000"/>
            </a:avLst>
          </a:prstGeom>
          <a:solidFill>
            <a:srgbClr val="FFFFFF"/>
          </a:solidFill>
          <a:ln/>
          <a:effectLst>
            <a:outerShdw blurRad="76200" dist="25400" dir="5400000" algn="bl" rotWithShape="0">
              <a:srgbClr val="1B2A41">
                <a:alpha val="12000"/>
              </a:srgbClr>
            </a:outerShdw>
          </a:effectLst>
        </p:spPr>
      </p:sp>
      <p:sp>
        <p:nvSpPr>
          <p:cNvPr id="20" name="Shape 15"/>
          <p:cNvSpPr/>
          <p:nvPr/>
        </p:nvSpPr>
        <p:spPr>
          <a:xfrm>
            <a:off x="868680" y="4251960"/>
            <a:ext cx="548640" cy="548640"/>
          </a:xfrm>
          <a:prstGeom prst="ellipse">
            <a:avLst/>
          </a:prstGeom>
          <a:solidFill>
            <a:srgbClr val="0078D4"/>
          </a:solidFill>
          <a:ln/>
        </p:spPr>
      </p:sp>
      <p:pic>
        <p:nvPicPr>
          <p:cNvPr id="21" name="Image 3" descr="preencoded.png"/>
          <p:cNvPicPr>
            <a:picLocks noChangeAspect="1"/>
          </p:cNvPicPr>
          <p:nvPr/>
        </p:nvPicPr>
        <p:blipFill>
          <a:blip r:embed="rId6"/>
          <a:stretch>
            <a:fillRect/>
          </a:stretch>
        </p:blipFill>
        <p:spPr>
          <a:xfrm>
            <a:off x="940003" y="4323283"/>
            <a:ext cx="405994" cy="405994"/>
          </a:xfrm>
          <a:prstGeom prst="rect">
            <a:avLst/>
          </a:prstGeom>
        </p:spPr>
      </p:pic>
      <p:sp>
        <p:nvSpPr>
          <p:cNvPr id="22" name="Text 16"/>
          <p:cNvSpPr txBox="1"/>
          <p:nvPr/>
        </p:nvSpPr>
        <p:spPr>
          <a:xfrm>
            <a:off x="868680" y="4937760"/>
            <a:ext cx="3108960" cy="365760"/>
          </a:xfrm>
          <a:prstGeom prst="rect">
            <a:avLst/>
          </a:prstGeom>
          <a:noFill/>
          <a:ln/>
        </p:spPr>
        <p:txBody>
          <a:bodyPr wrap="square" rtlCol="0" anchor="ctr"/>
          <a:lstStyle/>
          <a:p>
            <a:pPr marL="0" indent="0">
              <a:buNone/>
            </a:pPr>
            <a:r>
              <a:rPr lang="en-US" sz="1500" b="1" dirty="0">
                <a:solidFill>
                  <a:srgbClr val="15243A"/>
                </a:solidFill>
                <a:latin typeface="Calibri" pitchFamily="34" charset="0"/>
                <a:ea typeface="Calibri" pitchFamily="34" charset="-122"/>
                <a:cs typeface="Calibri" pitchFamily="34" charset="-120"/>
              </a:rPr>
              <a:t>Best Practices</a:t>
            </a:r>
            <a:endParaRPr lang="en-US" sz="1500" dirty="0"/>
          </a:p>
        </p:txBody>
      </p:sp>
      <p:sp>
        <p:nvSpPr>
          <p:cNvPr id="23" name="Text 17"/>
          <p:cNvSpPr txBox="1"/>
          <p:nvPr/>
        </p:nvSpPr>
        <p:spPr>
          <a:xfrm>
            <a:off x="868680" y="5285232"/>
            <a:ext cx="3108960" cy="457200"/>
          </a:xfrm>
          <a:prstGeom prst="rect">
            <a:avLst/>
          </a:prstGeom>
          <a:noFill/>
          <a:ln/>
        </p:spPr>
        <p:txBody>
          <a:bodyPr wrap="square" rtlCol="0" anchor="ctr"/>
          <a:lstStyle/>
          <a:p>
            <a:pPr marL="0" indent="0">
              <a:buNone/>
            </a:pPr>
            <a:r>
              <a:rPr lang="en-US" sz="1100" dirty="0">
                <a:solidFill>
                  <a:srgbClr val="5B6B7F"/>
                </a:solidFill>
                <a:latin typeface="Calibri" pitchFamily="34" charset="0"/>
                <a:ea typeface="Calibri" pitchFamily="34" charset="-122"/>
                <a:cs typeface="Calibri" pitchFamily="34" charset="-120"/>
              </a:rPr>
              <a:t>Designing resilient, interruption-ready apps</a:t>
            </a:r>
            <a:endParaRPr lang="en-US" sz="1100" dirty="0"/>
          </a:p>
        </p:txBody>
      </p:sp>
      <p:sp>
        <p:nvSpPr>
          <p:cNvPr id="24" name="Shape 18"/>
          <p:cNvSpPr/>
          <p:nvPr/>
        </p:nvSpPr>
        <p:spPr>
          <a:xfrm>
            <a:off x="4434840" y="4023360"/>
            <a:ext cx="3566160" cy="1828800"/>
          </a:xfrm>
          <a:prstGeom prst="roundRect">
            <a:avLst>
              <a:gd name="adj" fmla="val 4000"/>
            </a:avLst>
          </a:prstGeom>
          <a:solidFill>
            <a:srgbClr val="FFFFFF"/>
          </a:solidFill>
          <a:ln/>
          <a:effectLst>
            <a:outerShdw blurRad="76200" dist="25400" dir="5400000" algn="bl" rotWithShape="0">
              <a:srgbClr val="1B2A41">
                <a:alpha val="12000"/>
              </a:srgbClr>
            </a:outerShdw>
          </a:effectLst>
        </p:spPr>
      </p:sp>
      <p:sp>
        <p:nvSpPr>
          <p:cNvPr id="25" name="Shape 19"/>
          <p:cNvSpPr/>
          <p:nvPr/>
        </p:nvSpPr>
        <p:spPr>
          <a:xfrm>
            <a:off x="4663440" y="4251960"/>
            <a:ext cx="548640" cy="548640"/>
          </a:xfrm>
          <a:prstGeom prst="ellipse">
            <a:avLst/>
          </a:prstGeom>
          <a:solidFill>
            <a:srgbClr val="0078D4"/>
          </a:solidFill>
          <a:ln/>
        </p:spPr>
      </p:sp>
      <p:pic>
        <p:nvPicPr>
          <p:cNvPr id="26" name="Image 4" descr="preencoded.png"/>
          <p:cNvPicPr>
            <a:picLocks noChangeAspect="1"/>
          </p:cNvPicPr>
          <p:nvPr/>
        </p:nvPicPr>
        <p:blipFill>
          <a:blip r:embed="rId7"/>
          <a:stretch>
            <a:fillRect/>
          </a:stretch>
        </p:blipFill>
        <p:spPr>
          <a:xfrm>
            <a:off x="4734763" y="4323283"/>
            <a:ext cx="405994" cy="405994"/>
          </a:xfrm>
          <a:prstGeom prst="rect">
            <a:avLst/>
          </a:prstGeom>
        </p:spPr>
      </p:pic>
      <p:sp>
        <p:nvSpPr>
          <p:cNvPr id="27" name="Text 20"/>
          <p:cNvSpPr txBox="1"/>
          <p:nvPr/>
        </p:nvSpPr>
        <p:spPr>
          <a:xfrm>
            <a:off x="4663440" y="4937760"/>
            <a:ext cx="3108960" cy="365760"/>
          </a:xfrm>
          <a:prstGeom prst="rect">
            <a:avLst/>
          </a:prstGeom>
          <a:noFill/>
          <a:ln/>
        </p:spPr>
        <p:txBody>
          <a:bodyPr wrap="square" rtlCol="0" anchor="ctr"/>
          <a:lstStyle/>
          <a:p>
            <a:pPr marL="0" indent="0">
              <a:buNone/>
            </a:pPr>
            <a:r>
              <a:rPr lang="en-US" sz="1500" b="1" dirty="0">
                <a:solidFill>
                  <a:srgbClr val="15243A"/>
                </a:solidFill>
                <a:latin typeface="Calibri" pitchFamily="34" charset="0"/>
                <a:ea typeface="Calibri" pitchFamily="34" charset="-122"/>
                <a:cs typeface="Calibri" pitchFamily="34" charset="-120"/>
              </a:rPr>
              <a:t>Limitations</a:t>
            </a:r>
            <a:endParaRPr lang="en-US" sz="1500" dirty="0"/>
          </a:p>
        </p:txBody>
      </p:sp>
      <p:sp>
        <p:nvSpPr>
          <p:cNvPr id="28" name="Text 21"/>
          <p:cNvSpPr txBox="1"/>
          <p:nvPr/>
        </p:nvSpPr>
        <p:spPr>
          <a:xfrm>
            <a:off x="4663440" y="5285232"/>
            <a:ext cx="3108960" cy="457200"/>
          </a:xfrm>
          <a:prstGeom prst="rect">
            <a:avLst/>
          </a:prstGeom>
          <a:noFill/>
          <a:ln/>
        </p:spPr>
        <p:txBody>
          <a:bodyPr wrap="square" rtlCol="0" anchor="ctr"/>
          <a:lstStyle/>
          <a:p>
            <a:pPr marL="0" indent="0">
              <a:buNone/>
            </a:pPr>
            <a:r>
              <a:rPr lang="en-US" sz="1100" dirty="0">
                <a:solidFill>
                  <a:srgbClr val="5B6B7F"/>
                </a:solidFill>
                <a:latin typeface="Calibri" pitchFamily="34" charset="0"/>
                <a:ea typeface="Calibri" pitchFamily="34" charset="-122"/>
                <a:cs typeface="Calibri" pitchFamily="34" charset="-120"/>
              </a:rPr>
              <a:t>Trade-offs to plan around</a:t>
            </a:r>
            <a:endParaRPr lang="en-US" sz="1100" dirty="0"/>
          </a:p>
        </p:txBody>
      </p:sp>
      <p:sp>
        <p:nvSpPr>
          <p:cNvPr id="29" name="Shape 22"/>
          <p:cNvSpPr/>
          <p:nvPr/>
        </p:nvSpPr>
        <p:spPr>
          <a:xfrm>
            <a:off x="8229600" y="4023360"/>
            <a:ext cx="3566160" cy="1828800"/>
          </a:xfrm>
          <a:prstGeom prst="roundRect">
            <a:avLst>
              <a:gd name="adj" fmla="val 4000"/>
            </a:avLst>
          </a:prstGeom>
          <a:solidFill>
            <a:srgbClr val="FFFFFF"/>
          </a:solidFill>
          <a:ln/>
          <a:effectLst>
            <a:outerShdw blurRad="76200" dist="25400" dir="5400000" algn="bl" rotWithShape="0">
              <a:srgbClr val="1B2A41">
                <a:alpha val="12000"/>
              </a:srgbClr>
            </a:outerShdw>
          </a:effectLst>
        </p:spPr>
      </p:sp>
      <p:sp>
        <p:nvSpPr>
          <p:cNvPr id="30" name="Shape 23"/>
          <p:cNvSpPr/>
          <p:nvPr/>
        </p:nvSpPr>
        <p:spPr>
          <a:xfrm>
            <a:off x="8458200" y="4251960"/>
            <a:ext cx="548640" cy="548640"/>
          </a:xfrm>
          <a:prstGeom prst="ellipse">
            <a:avLst/>
          </a:prstGeom>
          <a:solidFill>
            <a:srgbClr val="0078D4"/>
          </a:solidFill>
          <a:ln/>
        </p:spPr>
      </p:sp>
      <p:pic>
        <p:nvPicPr>
          <p:cNvPr id="31" name="Image 5" descr="preencoded.png"/>
          <p:cNvPicPr>
            <a:picLocks noChangeAspect="1"/>
          </p:cNvPicPr>
          <p:nvPr/>
        </p:nvPicPr>
        <p:blipFill>
          <a:blip r:embed="rId8"/>
          <a:stretch>
            <a:fillRect/>
          </a:stretch>
        </p:blipFill>
        <p:spPr>
          <a:xfrm>
            <a:off x="8529523" y="4323283"/>
            <a:ext cx="405994" cy="405994"/>
          </a:xfrm>
          <a:prstGeom prst="rect">
            <a:avLst/>
          </a:prstGeom>
        </p:spPr>
      </p:pic>
      <p:sp>
        <p:nvSpPr>
          <p:cNvPr id="32" name="Text 24"/>
          <p:cNvSpPr txBox="1"/>
          <p:nvPr/>
        </p:nvSpPr>
        <p:spPr>
          <a:xfrm>
            <a:off x="8458200" y="4937760"/>
            <a:ext cx="3108960" cy="365760"/>
          </a:xfrm>
          <a:prstGeom prst="rect">
            <a:avLst/>
          </a:prstGeom>
          <a:noFill/>
          <a:ln/>
        </p:spPr>
        <p:txBody>
          <a:bodyPr wrap="square" rtlCol="0" anchor="ctr"/>
          <a:lstStyle/>
          <a:p>
            <a:pPr marL="0" indent="0">
              <a:buNone/>
            </a:pPr>
            <a:r>
              <a:rPr lang="en-US" sz="1500" b="1" dirty="0">
                <a:solidFill>
                  <a:srgbClr val="15243A"/>
                </a:solidFill>
                <a:latin typeface="Calibri" pitchFamily="34" charset="0"/>
                <a:ea typeface="Calibri" pitchFamily="34" charset="-122"/>
                <a:cs typeface="Calibri" pitchFamily="34" charset="-120"/>
              </a:rPr>
              <a:t>Key Takeaways</a:t>
            </a:r>
            <a:endParaRPr lang="en-US" sz="1500" dirty="0"/>
          </a:p>
        </p:txBody>
      </p:sp>
      <p:sp>
        <p:nvSpPr>
          <p:cNvPr id="33" name="Text 25"/>
          <p:cNvSpPr txBox="1"/>
          <p:nvPr/>
        </p:nvSpPr>
        <p:spPr>
          <a:xfrm>
            <a:off x="8458200" y="5285232"/>
            <a:ext cx="3108960" cy="457200"/>
          </a:xfrm>
          <a:prstGeom prst="rect">
            <a:avLst/>
          </a:prstGeom>
          <a:noFill/>
          <a:ln/>
        </p:spPr>
        <p:txBody>
          <a:bodyPr wrap="square" rtlCol="0" anchor="ctr"/>
          <a:lstStyle/>
          <a:p>
            <a:pPr marL="0" indent="0">
              <a:buNone/>
            </a:pPr>
            <a:r>
              <a:rPr lang="en-US" sz="1100" dirty="0">
                <a:solidFill>
                  <a:srgbClr val="5B6B7F"/>
                </a:solidFill>
                <a:latin typeface="Calibri" pitchFamily="34" charset="0"/>
                <a:ea typeface="Calibri" pitchFamily="34" charset="-122"/>
                <a:cs typeface="Calibri" pitchFamily="34" charset="-120"/>
              </a:rPr>
              <a:t>Summary and next steps</a:t>
            </a:r>
            <a:endParaRPr lang="en-US" sz="1100" dirty="0"/>
          </a:p>
        </p:txBody>
      </p:sp>
      <p:sp>
        <p:nvSpPr>
          <p:cNvPr id="34" name="Text 26"/>
          <p:cNvSpPr/>
          <p:nvPr/>
        </p:nvSpPr>
        <p:spPr>
          <a:xfrm>
            <a:off x="457200" y="6473952"/>
            <a:ext cx="5486400" cy="274320"/>
          </a:xfrm>
          <a:prstGeom prst="rect">
            <a:avLst/>
          </a:prstGeom>
          <a:noFill/>
          <a:ln/>
        </p:spPr>
        <p:txBody>
          <a:bodyPr wrap="square" rtlCol="0" anchor="ctr"/>
          <a:lstStyle/>
          <a:p>
            <a:pPr marL="0" indent="0" algn="l">
              <a:buNone/>
            </a:pPr>
            <a:r>
              <a:rPr lang="en-US" sz="1000" dirty="0">
                <a:solidFill>
                  <a:srgbClr val="5B6B7F"/>
                </a:solidFill>
                <a:latin typeface="Calibri" pitchFamily="34" charset="0"/>
                <a:ea typeface="Calibri" pitchFamily="34" charset="-122"/>
                <a:cs typeface="Calibri" pitchFamily="34" charset="-120"/>
              </a:rPr>
              <a:t>Azure Spot Virtual Machines</a:t>
            </a:r>
            <a:endParaRPr lang="en-US" sz="1000" dirty="0"/>
          </a:p>
        </p:txBody>
      </p:sp>
      <p:sp>
        <p:nvSpPr>
          <p:cNvPr id="35" name="Text 27"/>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C"/>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10058400" cy="640080"/>
          </a:xfrm>
          <a:prstGeom prst="rect">
            <a:avLst/>
          </a:prstGeom>
          <a:noFill/>
          <a:ln/>
        </p:spPr>
        <p:txBody>
          <a:bodyPr wrap="square" rtlCol="0" anchor="ctr"/>
          <a:lstStyle/>
          <a:p>
            <a:pPr marL="0" indent="0">
              <a:buNone/>
            </a:pPr>
            <a:r>
              <a:rPr lang="en-US" sz="3200" b="1" dirty="0">
                <a:solidFill>
                  <a:srgbClr val="15243A"/>
                </a:solidFill>
                <a:latin typeface="Cambria" pitchFamily="34" charset="0"/>
                <a:ea typeface="Cambria" pitchFamily="34" charset="-122"/>
                <a:cs typeface="Cambria" pitchFamily="34" charset="-120"/>
              </a:rPr>
              <a:t>What Are Azure Spot VMs?</a:t>
            </a:r>
            <a:endParaRPr lang="en-US" sz="3200" dirty="0"/>
          </a:p>
        </p:txBody>
      </p:sp>
      <p:sp>
        <p:nvSpPr>
          <p:cNvPr id="3" name="Text 1"/>
          <p:cNvSpPr txBox="1"/>
          <p:nvPr/>
        </p:nvSpPr>
        <p:spPr>
          <a:xfrm>
            <a:off x="640080" y="1371600"/>
            <a:ext cx="6126480" cy="1463040"/>
          </a:xfrm>
          <a:prstGeom prst="rect">
            <a:avLst/>
          </a:prstGeom>
          <a:noFill/>
          <a:ln/>
        </p:spPr>
        <p:txBody>
          <a:bodyPr wrap="square" rtlCol="0" anchor="t"/>
          <a:lstStyle/>
          <a:p>
            <a:pPr marL="0" indent="0">
              <a:buNone/>
            </a:pPr>
            <a:r>
              <a:rPr lang="en-US" sz="1500" dirty="0">
                <a:solidFill>
                  <a:srgbClr val="15243A"/>
                </a:solidFill>
                <a:latin typeface="Calibri" pitchFamily="34" charset="0"/>
                <a:ea typeface="Calibri" pitchFamily="34" charset="-122"/>
                <a:cs typeface="Calibri" pitchFamily="34" charset="-120"/>
              </a:rPr>
              <a:t>Azure Spot VMs let you purchase unused Azure compute capacity at steep discounts. In exchange for the savings, Microsoft can reclaim that capacity at any time, with little or no warning, when it's needed for pay-as-you-go or reserved customers.</a:t>
            </a:r>
            <a:endParaRPr lang="en-US" sz="1500" dirty="0"/>
          </a:p>
        </p:txBody>
      </p:sp>
      <p:sp>
        <p:nvSpPr>
          <p:cNvPr id="4" name="Shape 2"/>
          <p:cNvSpPr/>
          <p:nvPr/>
        </p:nvSpPr>
        <p:spPr>
          <a:xfrm>
            <a:off x="640080" y="3026664"/>
            <a:ext cx="128016" cy="128016"/>
          </a:xfrm>
          <a:prstGeom prst="ellipse">
            <a:avLst/>
          </a:prstGeom>
          <a:solidFill>
            <a:srgbClr val="27E0C4"/>
          </a:solidFill>
          <a:ln/>
        </p:spPr>
      </p:sp>
      <p:sp>
        <p:nvSpPr>
          <p:cNvPr id="5" name="Text 3"/>
          <p:cNvSpPr txBox="1"/>
          <p:nvPr/>
        </p:nvSpPr>
        <p:spPr>
          <a:xfrm>
            <a:off x="914400" y="2898648"/>
            <a:ext cx="5852160" cy="365760"/>
          </a:xfrm>
          <a:prstGeom prst="rect">
            <a:avLst/>
          </a:prstGeom>
          <a:noFill/>
          <a:ln/>
        </p:spPr>
        <p:txBody>
          <a:bodyPr wrap="square" rtlCol="0" anchor="ctr"/>
          <a:lstStyle/>
          <a:p>
            <a:pPr marL="0" indent="0">
              <a:buNone/>
            </a:pPr>
            <a:r>
              <a:rPr lang="en-US" sz="1350" dirty="0">
                <a:solidFill>
                  <a:srgbClr val="15243A"/>
                </a:solidFill>
                <a:latin typeface="Calibri" pitchFamily="34" charset="0"/>
                <a:ea typeface="Calibri" pitchFamily="34" charset="-122"/>
                <a:cs typeface="Calibri" pitchFamily="34" charset="-120"/>
              </a:rPr>
              <a:t>No SLA guarantee — capacity can be evicted at any time</a:t>
            </a:r>
            <a:endParaRPr lang="en-US" sz="1350" dirty="0"/>
          </a:p>
        </p:txBody>
      </p:sp>
      <p:sp>
        <p:nvSpPr>
          <p:cNvPr id="6" name="Shape 4"/>
          <p:cNvSpPr/>
          <p:nvPr/>
        </p:nvSpPr>
        <p:spPr>
          <a:xfrm>
            <a:off x="640080" y="3529584"/>
            <a:ext cx="128016" cy="128016"/>
          </a:xfrm>
          <a:prstGeom prst="ellipse">
            <a:avLst/>
          </a:prstGeom>
          <a:solidFill>
            <a:srgbClr val="27E0C4"/>
          </a:solidFill>
          <a:ln/>
        </p:spPr>
      </p:sp>
      <p:sp>
        <p:nvSpPr>
          <p:cNvPr id="7" name="Text 5"/>
          <p:cNvSpPr txBox="1"/>
          <p:nvPr/>
        </p:nvSpPr>
        <p:spPr>
          <a:xfrm>
            <a:off x="914400" y="3401568"/>
            <a:ext cx="5852160" cy="365760"/>
          </a:xfrm>
          <a:prstGeom prst="rect">
            <a:avLst/>
          </a:prstGeom>
          <a:noFill/>
          <a:ln/>
        </p:spPr>
        <p:txBody>
          <a:bodyPr wrap="square" rtlCol="0" anchor="ctr"/>
          <a:lstStyle/>
          <a:p>
            <a:pPr marL="0" indent="0">
              <a:buNone/>
            </a:pPr>
            <a:r>
              <a:rPr lang="en-US" sz="1350" dirty="0">
                <a:solidFill>
                  <a:srgbClr val="15243A"/>
                </a:solidFill>
                <a:latin typeface="Calibri" pitchFamily="34" charset="0"/>
                <a:ea typeface="Calibri" pitchFamily="34" charset="-122"/>
                <a:cs typeface="Calibri" pitchFamily="34" charset="-120"/>
              </a:rPr>
              <a:t>Same VM sizes, images, and features as standard Azure VMs</a:t>
            </a:r>
            <a:endParaRPr lang="en-US" sz="1350" dirty="0"/>
          </a:p>
        </p:txBody>
      </p:sp>
      <p:sp>
        <p:nvSpPr>
          <p:cNvPr id="8" name="Shape 6"/>
          <p:cNvSpPr/>
          <p:nvPr/>
        </p:nvSpPr>
        <p:spPr>
          <a:xfrm>
            <a:off x="640080" y="4032504"/>
            <a:ext cx="128016" cy="128016"/>
          </a:xfrm>
          <a:prstGeom prst="ellipse">
            <a:avLst/>
          </a:prstGeom>
          <a:solidFill>
            <a:srgbClr val="27E0C4"/>
          </a:solidFill>
          <a:ln/>
        </p:spPr>
      </p:sp>
      <p:sp>
        <p:nvSpPr>
          <p:cNvPr id="9" name="Text 7"/>
          <p:cNvSpPr txBox="1"/>
          <p:nvPr/>
        </p:nvSpPr>
        <p:spPr>
          <a:xfrm>
            <a:off x="914400" y="3904488"/>
            <a:ext cx="5852160" cy="365760"/>
          </a:xfrm>
          <a:prstGeom prst="rect">
            <a:avLst/>
          </a:prstGeom>
          <a:noFill/>
          <a:ln/>
        </p:spPr>
        <p:txBody>
          <a:bodyPr wrap="square" rtlCol="0" anchor="ctr"/>
          <a:lstStyle/>
          <a:p>
            <a:pPr marL="0" indent="0">
              <a:buNone/>
            </a:pPr>
            <a:r>
              <a:rPr lang="en-US" sz="1350" dirty="0">
                <a:solidFill>
                  <a:srgbClr val="15243A"/>
                </a:solidFill>
                <a:latin typeface="Calibri" pitchFamily="34" charset="0"/>
                <a:ea typeface="Calibri" pitchFamily="34" charset="-122"/>
                <a:cs typeface="Calibri" pitchFamily="34" charset="-120"/>
              </a:rPr>
              <a:t>Price varies with regional supply and demand</a:t>
            </a:r>
            <a:endParaRPr lang="en-US" sz="1350" dirty="0"/>
          </a:p>
        </p:txBody>
      </p:sp>
      <p:sp>
        <p:nvSpPr>
          <p:cNvPr id="10" name="Shape 8"/>
          <p:cNvSpPr/>
          <p:nvPr/>
        </p:nvSpPr>
        <p:spPr>
          <a:xfrm>
            <a:off x="640080" y="4535424"/>
            <a:ext cx="128016" cy="128016"/>
          </a:xfrm>
          <a:prstGeom prst="ellipse">
            <a:avLst/>
          </a:prstGeom>
          <a:solidFill>
            <a:srgbClr val="27E0C4"/>
          </a:solidFill>
          <a:ln/>
        </p:spPr>
      </p:sp>
      <p:sp>
        <p:nvSpPr>
          <p:cNvPr id="11" name="Text 9"/>
          <p:cNvSpPr txBox="1"/>
          <p:nvPr/>
        </p:nvSpPr>
        <p:spPr>
          <a:xfrm>
            <a:off x="914400" y="4407408"/>
            <a:ext cx="5852160" cy="365760"/>
          </a:xfrm>
          <a:prstGeom prst="rect">
            <a:avLst/>
          </a:prstGeom>
          <a:noFill/>
          <a:ln/>
        </p:spPr>
        <p:txBody>
          <a:bodyPr wrap="square" rtlCol="0" anchor="ctr"/>
          <a:lstStyle/>
          <a:p>
            <a:pPr marL="0" indent="0">
              <a:buNone/>
            </a:pPr>
            <a:r>
              <a:rPr lang="en-US" sz="1350" dirty="0">
                <a:solidFill>
                  <a:srgbClr val="15243A"/>
                </a:solidFill>
                <a:latin typeface="Calibri" pitchFamily="34" charset="0"/>
                <a:ea typeface="Calibri" pitchFamily="34" charset="-122"/>
                <a:cs typeface="Calibri" pitchFamily="34" charset="-120"/>
              </a:rPr>
              <a:t>Best suited to fault-tolerant, flexible-timing workloads</a:t>
            </a:r>
            <a:endParaRPr lang="en-US" sz="1350" dirty="0"/>
          </a:p>
        </p:txBody>
      </p:sp>
      <p:sp>
        <p:nvSpPr>
          <p:cNvPr id="12" name="Shape 10"/>
          <p:cNvSpPr/>
          <p:nvPr/>
        </p:nvSpPr>
        <p:spPr>
          <a:xfrm>
            <a:off x="7315200" y="1371600"/>
            <a:ext cx="4206240" cy="4572000"/>
          </a:xfrm>
          <a:prstGeom prst="roundRect">
            <a:avLst>
              <a:gd name="adj" fmla="val 2174"/>
            </a:avLst>
          </a:prstGeom>
          <a:solidFill>
            <a:srgbClr val="0B1F3B"/>
          </a:solidFill>
          <a:ln/>
        </p:spPr>
      </p:sp>
      <p:sp>
        <p:nvSpPr>
          <p:cNvPr id="13" name="Shape 11"/>
          <p:cNvSpPr/>
          <p:nvPr/>
        </p:nvSpPr>
        <p:spPr>
          <a:xfrm>
            <a:off x="7680960" y="1737360"/>
            <a:ext cx="640080" cy="640080"/>
          </a:xfrm>
          <a:prstGeom prst="ellipse">
            <a:avLst/>
          </a:prstGeom>
          <a:solidFill>
            <a:srgbClr val="0078D4"/>
          </a:solidFill>
          <a:ln/>
        </p:spPr>
      </p:sp>
      <p:pic>
        <p:nvPicPr>
          <p:cNvPr id="14" name="Image 0" descr="preencoded.png"/>
          <p:cNvPicPr>
            <a:picLocks noChangeAspect="1"/>
          </p:cNvPicPr>
          <p:nvPr/>
        </p:nvPicPr>
        <p:blipFill>
          <a:blip r:embed="rId3"/>
          <a:stretch>
            <a:fillRect/>
          </a:stretch>
        </p:blipFill>
        <p:spPr>
          <a:xfrm>
            <a:off x="7764170" y="1820570"/>
            <a:ext cx="473659" cy="473659"/>
          </a:xfrm>
          <a:prstGeom prst="rect">
            <a:avLst/>
          </a:prstGeom>
        </p:spPr>
      </p:pic>
      <p:sp>
        <p:nvSpPr>
          <p:cNvPr id="15" name="Text 12"/>
          <p:cNvSpPr txBox="1"/>
          <p:nvPr/>
        </p:nvSpPr>
        <p:spPr>
          <a:xfrm>
            <a:off x="7680960" y="2514600"/>
            <a:ext cx="347472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Standard VM</a:t>
            </a:r>
            <a:endParaRPr lang="en-US" sz="1400" dirty="0"/>
          </a:p>
        </p:txBody>
      </p:sp>
      <p:sp>
        <p:nvSpPr>
          <p:cNvPr id="16" name="Text 13"/>
          <p:cNvSpPr txBox="1"/>
          <p:nvPr/>
        </p:nvSpPr>
        <p:spPr>
          <a:xfrm>
            <a:off x="7680960" y="2852928"/>
            <a:ext cx="3474720" cy="640080"/>
          </a:xfrm>
          <a:prstGeom prst="rect">
            <a:avLst/>
          </a:prstGeom>
          <a:noFill/>
          <a:ln/>
        </p:spPr>
        <p:txBody>
          <a:bodyPr wrap="square" rtlCol="0" anchor="ctr"/>
          <a:lstStyle/>
          <a:p>
            <a:pPr marL="0" indent="0">
              <a:buNone/>
            </a:pPr>
            <a:r>
              <a:rPr lang="en-US" sz="1150" dirty="0">
                <a:solidFill>
                  <a:srgbClr val="AAB9CE"/>
                </a:solidFill>
                <a:latin typeface="Calibri" pitchFamily="34" charset="0"/>
                <a:ea typeface="Calibri" pitchFamily="34" charset="-122"/>
                <a:cs typeface="Calibri" pitchFamily="34" charset="-120"/>
              </a:rPr>
              <a:t>Guaranteed capacity, full price, predictable availability.</a:t>
            </a:r>
            <a:endParaRPr lang="en-US" sz="1150" dirty="0"/>
          </a:p>
        </p:txBody>
      </p:sp>
      <p:sp>
        <p:nvSpPr>
          <p:cNvPr id="17" name="Shape 14"/>
          <p:cNvSpPr/>
          <p:nvPr/>
        </p:nvSpPr>
        <p:spPr>
          <a:xfrm>
            <a:off x="7680960" y="3703320"/>
            <a:ext cx="3474720" cy="0"/>
          </a:xfrm>
          <a:prstGeom prst="line">
            <a:avLst/>
          </a:prstGeom>
          <a:noFill/>
          <a:ln w="12700">
            <a:solidFill>
              <a:srgbClr val="2A3D5C"/>
            </a:solidFill>
            <a:prstDash val="solid"/>
          </a:ln>
        </p:spPr>
      </p:sp>
      <p:sp>
        <p:nvSpPr>
          <p:cNvPr id="18" name="Shape 15"/>
          <p:cNvSpPr/>
          <p:nvPr/>
        </p:nvSpPr>
        <p:spPr>
          <a:xfrm>
            <a:off x="7680960" y="3931920"/>
            <a:ext cx="640080" cy="640080"/>
          </a:xfrm>
          <a:prstGeom prst="ellipse">
            <a:avLst/>
          </a:prstGeom>
          <a:solidFill>
            <a:srgbClr val="27E0C4"/>
          </a:solidFill>
          <a:ln/>
        </p:spPr>
      </p:sp>
      <p:pic>
        <p:nvPicPr>
          <p:cNvPr id="19" name="Image 1" descr="preencoded.png"/>
          <p:cNvPicPr>
            <a:picLocks noChangeAspect="1"/>
          </p:cNvPicPr>
          <p:nvPr/>
        </p:nvPicPr>
        <p:blipFill>
          <a:blip r:embed="rId4"/>
          <a:stretch>
            <a:fillRect/>
          </a:stretch>
        </p:blipFill>
        <p:spPr>
          <a:xfrm>
            <a:off x="7764170" y="4015130"/>
            <a:ext cx="473659" cy="473659"/>
          </a:xfrm>
          <a:prstGeom prst="rect">
            <a:avLst/>
          </a:prstGeom>
        </p:spPr>
      </p:pic>
      <p:sp>
        <p:nvSpPr>
          <p:cNvPr id="20" name="Text 16"/>
          <p:cNvSpPr txBox="1"/>
          <p:nvPr/>
        </p:nvSpPr>
        <p:spPr>
          <a:xfrm>
            <a:off x="7680960" y="4709160"/>
            <a:ext cx="347472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Spot VM</a:t>
            </a:r>
            <a:endParaRPr lang="en-US" sz="1400" dirty="0"/>
          </a:p>
        </p:txBody>
      </p:sp>
      <p:sp>
        <p:nvSpPr>
          <p:cNvPr id="21" name="Text 17"/>
          <p:cNvSpPr txBox="1"/>
          <p:nvPr/>
        </p:nvSpPr>
        <p:spPr>
          <a:xfrm>
            <a:off x="7680960" y="5047488"/>
            <a:ext cx="3474720" cy="640080"/>
          </a:xfrm>
          <a:prstGeom prst="rect">
            <a:avLst/>
          </a:prstGeom>
          <a:noFill/>
          <a:ln/>
        </p:spPr>
        <p:txBody>
          <a:bodyPr wrap="square" rtlCol="0" anchor="ctr"/>
          <a:lstStyle/>
          <a:p>
            <a:pPr marL="0" indent="0">
              <a:buNone/>
            </a:pPr>
            <a:r>
              <a:rPr lang="en-US" sz="1150" dirty="0">
                <a:solidFill>
                  <a:srgbClr val="AAB9CE"/>
                </a:solidFill>
                <a:latin typeface="Calibri" pitchFamily="34" charset="0"/>
                <a:ea typeface="Calibri" pitchFamily="34" charset="-122"/>
                <a:cs typeface="Calibri" pitchFamily="34" charset="-120"/>
              </a:rPr>
              <a:t>Up to 90% lower cost, reclaimable capacity, variable pricing.</a:t>
            </a:r>
            <a:endParaRPr lang="en-US" sz="1150" dirty="0"/>
          </a:p>
        </p:txBody>
      </p:sp>
      <p:sp>
        <p:nvSpPr>
          <p:cNvPr id="22" name="Text 18"/>
          <p:cNvSpPr/>
          <p:nvPr/>
        </p:nvSpPr>
        <p:spPr>
          <a:xfrm>
            <a:off x="457200" y="6473952"/>
            <a:ext cx="5486400" cy="274320"/>
          </a:xfrm>
          <a:prstGeom prst="rect">
            <a:avLst/>
          </a:prstGeom>
          <a:noFill/>
          <a:ln/>
        </p:spPr>
        <p:txBody>
          <a:bodyPr wrap="square" rtlCol="0" anchor="ctr"/>
          <a:lstStyle/>
          <a:p>
            <a:pPr marL="0" indent="0" algn="l">
              <a:buNone/>
            </a:pPr>
            <a:r>
              <a:rPr lang="en-US" sz="1000" dirty="0">
                <a:solidFill>
                  <a:srgbClr val="5B6B7F"/>
                </a:solidFill>
                <a:latin typeface="Calibri" pitchFamily="34" charset="0"/>
                <a:ea typeface="Calibri" pitchFamily="34" charset="-122"/>
                <a:cs typeface="Calibri" pitchFamily="34" charset="-120"/>
              </a:rPr>
              <a:t>Azure Spot Virtual Machines</a:t>
            </a:r>
            <a:endParaRPr lang="en-US" sz="1000" dirty="0"/>
          </a:p>
        </p:txBody>
      </p:sp>
      <p:sp>
        <p:nvSpPr>
          <p:cNvPr id="23" name="Text 19"/>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3B"/>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731520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How Pricing Works</a:t>
            </a:r>
            <a:endParaRPr lang="en-US" sz="3200" dirty="0"/>
          </a:p>
        </p:txBody>
      </p:sp>
      <p:sp>
        <p:nvSpPr>
          <p:cNvPr id="3" name="Text 1"/>
          <p:cNvSpPr txBox="1"/>
          <p:nvPr/>
        </p:nvSpPr>
        <p:spPr>
          <a:xfrm>
            <a:off x="640080" y="1170432"/>
            <a:ext cx="8686800" cy="457200"/>
          </a:xfrm>
          <a:prstGeom prst="rect">
            <a:avLst/>
          </a:prstGeom>
          <a:noFill/>
          <a:ln/>
        </p:spPr>
        <p:txBody>
          <a:bodyPr wrap="square" rtlCol="0" anchor="ctr"/>
          <a:lstStyle/>
          <a:p>
            <a:pPr marL="0" indent="0">
              <a:buNone/>
            </a:pPr>
            <a:r>
              <a:rPr lang="en-US" sz="1350" dirty="0">
                <a:solidFill>
                  <a:srgbClr val="AAB9CE"/>
                </a:solidFill>
                <a:latin typeface="Calibri" pitchFamily="34" charset="0"/>
                <a:ea typeface="Calibri" pitchFamily="34" charset="-122"/>
                <a:cs typeface="Calibri" pitchFamily="34" charset="-120"/>
              </a:rPr>
              <a:t>Spot prices float with regional supply and demand — savings vs. pay-as-you-go typically run up to 90%</a:t>
            </a:r>
            <a:endParaRPr lang="en-US" sz="1350" dirty="0"/>
          </a:p>
        </p:txBody>
      </p:sp>
      <p:sp>
        <p:nvSpPr>
          <p:cNvPr id="4" name="Shape 2"/>
          <p:cNvSpPr/>
          <p:nvPr/>
        </p:nvSpPr>
        <p:spPr>
          <a:xfrm>
            <a:off x="640080" y="1965960"/>
            <a:ext cx="3200400" cy="1920240"/>
          </a:xfrm>
          <a:prstGeom prst="roundRect">
            <a:avLst>
              <a:gd name="adj" fmla="val 4762"/>
            </a:avLst>
          </a:prstGeom>
          <a:solidFill>
            <a:srgbClr val="132A4E"/>
          </a:solidFill>
          <a:ln/>
        </p:spPr>
      </p:sp>
      <p:sp>
        <p:nvSpPr>
          <p:cNvPr id="5" name="Text 3"/>
          <p:cNvSpPr txBox="1"/>
          <p:nvPr/>
        </p:nvSpPr>
        <p:spPr>
          <a:xfrm>
            <a:off x="822960" y="2148840"/>
            <a:ext cx="2834640" cy="320040"/>
          </a:xfrm>
          <a:prstGeom prst="rect">
            <a:avLst/>
          </a:prstGeom>
          <a:noFill/>
          <a:ln/>
        </p:spPr>
        <p:txBody>
          <a:bodyPr wrap="square" rtlCol="0" anchor="ctr"/>
          <a:lstStyle/>
          <a:p>
            <a:pPr marL="0" indent="0">
              <a:buNone/>
            </a:pPr>
            <a:r>
              <a:rPr lang="en-US" sz="1300" dirty="0">
                <a:solidFill>
                  <a:srgbClr val="27E0C4"/>
                </a:solidFill>
                <a:latin typeface="Calibri" pitchFamily="34" charset="0"/>
                <a:ea typeface="Calibri" pitchFamily="34" charset="-122"/>
                <a:cs typeface="Calibri" pitchFamily="34" charset="-120"/>
              </a:rPr>
              <a:t>up to</a:t>
            </a:r>
            <a:endParaRPr lang="en-US" sz="1300" dirty="0"/>
          </a:p>
        </p:txBody>
      </p:sp>
      <p:sp>
        <p:nvSpPr>
          <p:cNvPr id="6" name="Text 4"/>
          <p:cNvSpPr txBox="1"/>
          <p:nvPr/>
        </p:nvSpPr>
        <p:spPr>
          <a:xfrm>
            <a:off x="822960" y="2395728"/>
            <a:ext cx="2834640" cy="914400"/>
          </a:xfrm>
          <a:prstGeom prst="rect">
            <a:avLst/>
          </a:prstGeom>
          <a:noFill/>
          <a:ln/>
        </p:spPr>
        <p:txBody>
          <a:bodyPr wrap="square" rtlCol="0" anchor="ctr"/>
          <a:lstStyle/>
          <a:p>
            <a:pPr marL="0" indent="0">
              <a:buNone/>
            </a:pPr>
            <a:r>
              <a:rPr lang="en-US" sz="6400" b="1" dirty="0">
                <a:solidFill>
                  <a:srgbClr val="FFFFFF"/>
                </a:solidFill>
                <a:latin typeface="Cambria" pitchFamily="34" charset="0"/>
                <a:ea typeface="Cambria" pitchFamily="34" charset="-122"/>
                <a:cs typeface="Cambria" pitchFamily="34" charset="-120"/>
              </a:rPr>
              <a:t>90%</a:t>
            </a:r>
            <a:endParaRPr lang="en-US" sz="6400" dirty="0"/>
          </a:p>
        </p:txBody>
      </p:sp>
      <p:sp>
        <p:nvSpPr>
          <p:cNvPr id="7" name="Text 5"/>
          <p:cNvSpPr txBox="1"/>
          <p:nvPr/>
        </p:nvSpPr>
        <p:spPr>
          <a:xfrm>
            <a:off x="822960" y="3383280"/>
            <a:ext cx="2834640" cy="457200"/>
          </a:xfrm>
          <a:prstGeom prst="rect">
            <a:avLst/>
          </a:prstGeom>
          <a:noFill/>
          <a:ln/>
        </p:spPr>
        <p:txBody>
          <a:bodyPr wrap="square" rtlCol="0" anchor="ctr"/>
          <a:lstStyle/>
          <a:p>
            <a:pPr marL="0" indent="0">
              <a:buNone/>
            </a:pPr>
            <a:r>
              <a:rPr lang="en-US" sz="1200" dirty="0">
                <a:solidFill>
                  <a:srgbClr val="AAB9CE"/>
                </a:solidFill>
                <a:latin typeface="Calibri" pitchFamily="34" charset="0"/>
                <a:ea typeface="Calibri" pitchFamily="34" charset="-122"/>
                <a:cs typeface="Calibri" pitchFamily="34" charset="-120"/>
              </a:rPr>
              <a:t>lower cost vs. pay-as-you-go pricing</a:t>
            </a:r>
            <a:endParaRPr lang="en-US" sz="1200" dirty="0"/>
          </a:p>
        </p:txBody>
      </p:sp>
      <p:sp>
        <p:nvSpPr>
          <p:cNvPr id="8" name="Shape 6"/>
          <p:cNvSpPr/>
          <p:nvPr/>
        </p:nvSpPr>
        <p:spPr>
          <a:xfrm>
            <a:off x="640080" y="4069080"/>
            <a:ext cx="3200400" cy="1691640"/>
          </a:xfrm>
          <a:prstGeom prst="roundRect">
            <a:avLst>
              <a:gd name="adj" fmla="val 5405"/>
            </a:avLst>
          </a:prstGeom>
          <a:solidFill>
            <a:srgbClr val="132A4E"/>
          </a:solidFill>
          <a:ln/>
        </p:spPr>
      </p:sp>
      <p:sp>
        <p:nvSpPr>
          <p:cNvPr id="9" name="Text 7"/>
          <p:cNvSpPr txBox="1"/>
          <p:nvPr/>
        </p:nvSpPr>
        <p:spPr>
          <a:xfrm>
            <a:off x="822960" y="4251960"/>
            <a:ext cx="2834640" cy="320040"/>
          </a:xfrm>
          <a:prstGeom prst="rect">
            <a:avLst/>
          </a:prstGeom>
          <a:noFill/>
          <a:ln/>
        </p:spPr>
        <p:txBody>
          <a:bodyPr wrap="square" rtlCol="0" anchor="ctr"/>
          <a:lstStyle/>
          <a:p>
            <a:pPr marL="0" indent="0">
              <a:buNone/>
            </a:pPr>
            <a:r>
              <a:rPr lang="en-US" sz="1300" dirty="0">
                <a:solidFill>
                  <a:srgbClr val="27E0C4"/>
                </a:solidFill>
                <a:latin typeface="Calibri" pitchFamily="34" charset="0"/>
                <a:ea typeface="Calibri" pitchFamily="34" charset="-122"/>
                <a:cs typeface="Calibri" pitchFamily="34" charset="-120"/>
              </a:rPr>
              <a:t>Max price</a:t>
            </a:r>
            <a:endParaRPr lang="en-US" sz="1300" dirty="0"/>
          </a:p>
        </p:txBody>
      </p:sp>
      <p:sp>
        <p:nvSpPr>
          <p:cNvPr id="10" name="Text 8"/>
          <p:cNvSpPr txBox="1"/>
          <p:nvPr/>
        </p:nvSpPr>
        <p:spPr>
          <a:xfrm>
            <a:off x="822960" y="4572000"/>
            <a:ext cx="2834640" cy="50292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You set a cap</a:t>
            </a:r>
            <a:endParaRPr lang="en-US" sz="2000" dirty="0"/>
          </a:p>
        </p:txBody>
      </p:sp>
      <p:sp>
        <p:nvSpPr>
          <p:cNvPr id="11" name="Text 9"/>
          <p:cNvSpPr txBox="1"/>
          <p:nvPr/>
        </p:nvSpPr>
        <p:spPr>
          <a:xfrm>
            <a:off x="822960" y="5074920"/>
            <a:ext cx="2834640" cy="640080"/>
          </a:xfrm>
          <a:prstGeom prst="rect">
            <a:avLst/>
          </a:prstGeom>
          <a:noFill/>
          <a:ln/>
        </p:spPr>
        <p:txBody>
          <a:bodyPr wrap="square" rtlCol="0" anchor="ctr"/>
          <a:lstStyle/>
          <a:p>
            <a:pPr marL="0" indent="0">
              <a:buNone/>
            </a:pPr>
            <a:r>
              <a:rPr lang="en-US" sz="1150" dirty="0">
                <a:solidFill>
                  <a:srgbClr val="AAB9CE"/>
                </a:solidFill>
                <a:latin typeface="Calibri" pitchFamily="34" charset="0"/>
                <a:ea typeface="Calibri" pitchFamily="34" charset="-122"/>
                <a:cs typeface="Calibri" pitchFamily="34" charset="-120"/>
              </a:rPr>
              <a:t>Choose to pay up to the current pay-as-you-go rate, or set your own eviction price ceiling.</a:t>
            </a:r>
            <a:endParaRPr lang="en-US" sz="1150" dirty="0"/>
          </a:p>
        </p:txBody>
      </p:sp>
      <p:graphicFrame>
        <p:nvGraphicFramePr>
          <p:cNvPr id="12" name="Chart 0"/>
          <p:cNvGraphicFramePr/>
          <p:nvPr/>
        </p:nvGraphicFramePr>
        <p:xfrm>
          <a:off x="4343400" y="1965960"/>
          <a:ext cx="722376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 10"/>
          <p:cNvSpPr txBox="1"/>
          <p:nvPr/>
        </p:nvSpPr>
        <p:spPr>
          <a:xfrm>
            <a:off x="4343400" y="6172200"/>
            <a:ext cx="7223760" cy="274320"/>
          </a:xfrm>
          <a:prstGeom prst="rect">
            <a:avLst/>
          </a:prstGeom>
          <a:noFill/>
          <a:ln/>
        </p:spPr>
        <p:txBody>
          <a:bodyPr wrap="square" rtlCol="0" anchor="ctr"/>
          <a:lstStyle/>
          <a:p>
            <a:pPr marL="0" indent="0">
              <a:buNone/>
            </a:pPr>
            <a:r>
              <a:rPr lang="en-US" sz="950" i="1" dirty="0">
                <a:solidFill>
                  <a:srgbClr val="6E7F98"/>
                </a:solidFill>
                <a:latin typeface="Calibri" pitchFamily="34" charset="0"/>
                <a:ea typeface="Calibri" pitchFamily="34" charset="-122"/>
                <a:cs typeface="Calibri" pitchFamily="34" charset="-120"/>
              </a:rPr>
              <a:t>Figures are illustrative and vary by region, VM size, and real-time capacity.</a:t>
            </a:r>
            <a:endParaRPr lang="en-US" sz="950" dirty="0"/>
          </a:p>
        </p:txBody>
      </p:sp>
      <p:sp>
        <p:nvSpPr>
          <p:cNvPr id="14" name="Text 11"/>
          <p:cNvSpPr/>
          <p:nvPr/>
        </p:nvSpPr>
        <p:spPr>
          <a:xfrm>
            <a:off x="457200" y="6473952"/>
            <a:ext cx="5486400" cy="274320"/>
          </a:xfrm>
          <a:prstGeom prst="rect">
            <a:avLst/>
          </a:prstGeom>
          <a:noFill/>
          <a:ln/>
        </p:spPr>
        <p:txBody>
          <a:bodyPr wrap="square" rtlCol="0" anchor="ctr"/>
          <a:lstStyle/>
          <a:p>
            <a:pPr marL="0" indent="0" algn="l">
              <a:buNone/>
            </a:pPr>
            <a:r>
              <a:rPr lang="en-US" sz="1000" dirty="0">
                <a:solidFill>
                  <a:srgbClr val="8FA3BE"/>
                </a:solidFill>
                <a:latin typeface="Calibri" pitchFamily="34" charset="0"/>
                <a:ea typeface="Calibri" pitchFamily="34" charset="-122"/>
                <a:cs typeface="Calibri" pitchFamily="34" charset="-120"/>
              </a:rPr>
              <a:t>Azure Spot Virtual Machines</a:t>
            </a:r>
            <a:endParaRPr lang="en-US" sz="1000" dirty="0"/>
          </a:p>
        </p:txBody>
      </p:sp>
      <p:sp>
        <p:nvSpPr>
          <p:cNvPr id="15" name="Text 12"/>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8FA3BE"/>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C"/>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9144000" cy="640080"/>
          </a:xfrm>
          <a:prstGeom prst="rect">
            <a:avLst/>
          </a:prstGeom>
          <a:noFill/>
          <a:ln/>
        </p:spPr>
        <p:txBody>
          <a:bodyPr wrap="square" rtlCol="0" anchor="ctr"/>
          <a:lstStyle/>
          <a:p>
            <a:pPr marL="0" indent="0">
              <a:buNone/>
            </a:pPr>
            <a:r>
              <a:rPr lang="en-US" sz="3200" b="1" dirty="0">
                <a:solidFill>
                  <a:srgbClr val="15243A"/>
                </a:solidFill>
                <a:latin typeface="Cambria" pitchFamily="34" charset="0"/>
                <a:ea typeface="Cambria" pitchFamily="34" charset="-122"/>
                <a:cs typeface="Cambria" pitchFamily="34" charset="-120"/>
              </a:rPr>
              <a:t>How Eviction Works</a:t>
            </a:r>
            <a:endParaRPr lang="en-US" sz="3200" dirty="0"/>
          </a:p>
        </p:txBody>
      </p:sp>
      <p:sp>
        <p:nvSpPr>
          <p:cNvPr id="3" name="Text 1"/>
          <p:cNvSpPr txBox="1"/>
          <p:nvPr/>
        </p:nvSpPr>
        <p:spPr>
          <a:xfrm>
            <a:off x="640080" y="1170432"/>
            <a:ext cx="9875520" cy="457200"/>
          </a:xfrm>
          <a:prstGeom prst="rect">
            <a:avLst/>
          </a:prstGeom>
          <a:noFill/>
          <a:ln/>
        </p:spPr>
        <p:txBody>
          <a:bodyPr wrap="square" rtlCol="0" anchor="ctr"/>
          <a:lstStyle/>
          <a:p>
            <a:pPr marL="0" indent="0">
              <a:buNone/>
            </a:pPr>
            <a:r>
              <a:rPr lang="en-US" sz="1400" dirty="0">
                <a:solidFill>
                  <a:srgbClr val="5B6B7F"/>
                </a:solidFill>
                <a:latin typeface="Calibri" pitchFamily="34" charset="0"/>
                <a:ea typeface="Calibri" pitchFamily="34" charset="-122"/>
                <a:cs typeface="Calibri" pitchFamily="34" charset="-120"/>
              </a:rPr>
              <a:t>When Azure needs the capacity back, your Spot VM is reclaimed through a short, predictable sequence</a:t>
            </a:r>
            <a:endParaRPr lang="en-US" sz="1400" dirty="0"/>
          </a:p>
        </p:txBody>
      </p:sp>
      <p:sp>
        <p:nvSpPr>
          <p:cNvPr id="4" name="Shape 2"/>
          <p:cNvSpPr/>
          <p:nvPr/>
        </p:nvSpPr>
        <p:spPr>
          <a:xfrm>
            <a:off x="640080" y="2468880"/>
            <a:ext cx="2480310" cy="3566160"/>
          </a:xfrm>
          <a:prstGeom prst="roundRect">
            <a:avLst>
              <a:gd name="adj" fmla="val 2949"/>
            </a:avLst>
          </a:prstGeom>
          <a:solidFill>
            <a:srgbClr val="FFFFFF"/>
          </a:solidFill>
          <a:ln/>
          <a:effectLst>
            <a:outerShdw blurRad="76200" dist="25400" dir="5400000" algn="bl" rotWithShape="0">
              <a:srgbClr val="1B2A41">
                <a:alpha val="12000"/>
              </a:srgbClr>
            </a:outerShdw>
          </a:effectLst>
        </p:spPr>
      </p:sp>
      <p:sp>
        <p:nvSpPr>
          <p:cNvPr id="5" name="Text 3"/>
          <p:cNvSpPr txBox="1"/>
          <p:nvPr/>
        </p:nvSpPr>
        <p:spPr>
          <a:xfrm>
            <a:off x="868680" y="2670048"/>
            <a:ext cx="2023110" cy="274320"/>
          </a:xfrm>
          <a:prstGeom prst="rect">
            <a:avLst/>
          </a:prstGeom>
          <a:noFill/>
          <a:ln/>
        </p:spPr>
        <p:txBody>
          <a:bodyPr wrap="square" rtlCol="0" anchor="ctr"/>
          <a:lstStyle/>
          <a:p>
            <a:pPr marL="0" indent="0">
              <a:buNone/>
            </a:pPr>
            <a:r>
              <a:rPr lang="en-US" sz="1050" b="1" kern="0" spc="150" dirty="0">
                <a:solidFill>
                  <a:srgbClr val="0078D4"/>
                </a:solidFill>
                <a:latin typeface="Calibri" pitchFamily="34" charset="0"/>
                <a:ea typeface="Calibri" pitchFamily="34" charset="-122"/>
                <a:cs typeface="Calibri" pitchFamily="34" charset="-120"/>
              </a:rPr>
              <a:t>STEP 1</a:t>
            </a:r>
            <a:endParaRPr lang="en-US" sz="1050" dirty="0"/>
          </a:p>
        </p:txBody>
      </p:sp>
      <p:sp>
        <p:nvSpPr>
          <p:cNvPr id="6" name="Shape 4"/>
          <p:cNvSpPr/>
          <p:nvPr/>
        </p:nvSpPr>
        <p:spPr>
          <a:xfrm>
            <a:off x="868680" y="3035808"/>
            <a:ext cx="594360" cy="594360"/>
          </a:xfrm>
          <a:prstGeom prst="ellipse">
            <a:avLst/>
          </a:prstGeom>
          <a:solidFill>
            <a:srgbClr val="0078D4"/>
          </a:solidFill>
          <a:ln/>
        </p:spPr>
      </p:sp>
      <p:pic>
        <p:nvPicPr>
          <p:cNvPr id="7" name="Image 0" descr="preencoded.png"/>
          <p:cNvPicPr>
            <a:picLocks noChangeAspect="1"/>
          </p:cNvPicPr>
          <p:nvPr/>
        </p:nvPicPr>
        <p:blipFill>
          <a:blip r:embed="rId3"/>
          <a:stretch>
            <a:fillRect/>
          </a:stretch>
        </p:blipFill>
        <p:spPr>
          <a:xfrm>
            <a:off x="945947" y="3113075"/>
            <a:ext cx="439826" cy="439826"/>
          </a:xfrm>
          <a:prstGeom prst="rect">
            <a:avLst/>
          </a:prstGeom>
        </p:spPr>
      </p:pic>
      <p:sp>
        <p:nvSpPr>
          <p:cNvPr id="8" name="Text 5"/>
          <p:cNvSpPr txBox="1"/>
          <p:nvPr/>
        </p:nvSpPr>
        <p:spPr>
          <a:xfrm>
            <a:off x="868680" y="3794760"/>
            <a:ext cx="2023110" cy="365760"/>
          </a:xfrm>
          <a:prstGeom prst="rect">
            <a:avLst/>
          </a:prstGeom>
          <a:noFill/>
          <a:ln/>
        </p:spPr>
        <p:txBody>
          <a:bodyPr wrap="square" rtlCol="0" anchor="ctr"/>
          <a:lstStyle/>
          <a:p>
            <a:pPr marL="0" indent="0">
              <a:buNone/>
            </a:pPr>
            <a:r>
              <a:rPr lang="en-US" sz="1450" b="1" dirty="0">
                <a:solidFill>
                  <a:srgbClr val="15243A"/>
                </a:solidFill>
                <a:latin typeface="Calibri" pitchFamily="34" charset="0"/>
                <a:ea typeface="Calibri" pitchFamily="34" charset="-122"/>
                <a:cs typeface="Calibri" pitchFamily="34" charset="-120"/>
              </a:rPr>
              <a:t>Deploy</a:t>
            </a:r>
            <a:endParaRPr lang="en-US" sz="1450" dirty="0"/>
          </a:p>
        </p:txBody>
      </p:sp>
      <p:sp>
        <p:nvSpPr>
          <p:cNvPr id="9" name="Text 6"/>
          <p:cNvSpPr txBox="1"/>
          <p:nvPr/>
        </p:nvSpPr>
        <p:spPr>
          <a:xfrm>
            <a:off x="868680" y="4251960"/>
            <a:ext cx="2023110" cy="1645920"/>
          </a:xfrm>
          <a:prstGeom prst="rect">
            <a:avLst/>
          </a:prstGeom>
          <a:noFill/>
          <a:ln/>
        </p:spPr>
        <p:txBody>
          <a:bodyPr wrap="square" rtlCol="0" anchor="t"/>
          <a:lstStyle/>
          <a:p>
            <a:pPr marL="0" indent="0">
              <a:buNone/>
            </a:pPr>
            <a:r>
              <a:rPr lang="en-US" sz="1200" dirty="0">
                <a:solidFill>
                  <a:srgbClr val="5B6B7F"/>
                </a:solidFill>
                <a:latin typeface="Calibri" pitchFamily="34" charset="0"/>
                <a:ea typeface="Calibri" pitchFamily="34" charset="-122"/>
                <a:cs typeface="Calibri" pitchFamily="34" charset="-120"/>
              </a:rPr>
              <a:t>Request a Spot VM and set an eviction policy (Stop/Deallocate or Delete).</a:t>
            </a:r>
            <a:endParaRPr lang="en-US" sz="1200" dirty="0"/>
          </a:p>
        </p:txBody>
      </p:sp>
      <p:sp>
        <p:nvSpPr>
          <p:cNvPr id="10" name="Text 7"/>
          <p:cNvSpPr txBox="1"/>
          <p:nvPr/>
        </p:nvSpPr>
        <p:spPr>
          <a:xfrm>
            <a:off x="3138678" y="4023360"/>
            <a:ext cx="283464" cy="457200"/>
          </a:xfrm>
          <a:prstGeom prst="rect">
            <a:avLst/>
          </a:prstGeom>
          <a:noFill/>
          <a:ln/>
        </p:spPr>
        <p:txBody>
          <a:bodyPr wrap="square" rtlCol="0" anchor="ctr"/>
          <a:lstStyle/>
          <a:p>
            <a:pPr marL="0" indent="0" algn="ctr">
              <a:buNone/>
            </a:pPr>
            <a:r>
              <a:rPr lang="en-US" sz="2000" b="1" dirty="0">
                <a:solidFill>
                  <a:srgbClr val="AAB9CE"/>
                </a:solidFill>
                <a:latin typeface="Arial" pitchFamily="34" charset="0"/>
                <a:ea typeface="Arial" pitchFamily="34" charset="-122"/>
                <a:cs typeface="Arial" pitchFamily="34" charset="-120"/>
              </a:rPr>
              <a:t>→</a:t>
            </a:r>
            <a:endParaRPr lang="en-US" sz="2000" dirty="0"/>
          </a:p>
        </p:txBody>
      </p:sp>
      <p:sp>
        <p:nvSpPr>
          <p:cNvPr id="11" name="Shape 8"/>
          <p:cNvSpPr/>
          <p:nvPr/>
        </p:nvSpPr>
        <p:spPr>
          <a:xfrm>
            <a:off x="3440430" y="2468880"/>
            <a:ext cx="2480310" cy="3566160"/>
          </a:xfrm>
          <a:prstGeom prst="roundRect">
            <a:avLst>
              <a:gd name="adj" fmla="val 2949"/>
            </a:avLst>
          </a:prstGeom>
          <a:solidFill>
            <a:srgbClr val="FFFFFF"/>
          </a:solidFill>
          <a:ln/>
          <a:effectLst>
            <a:outerShdw blurRad="76200" dist="25400" dir="5400000" algn="bl" rotWithShape="0">
              <a:srgbClr val="1B2A41">
                <a:alpha val="12000"/>
              </a:srgbClr>
            </a:outerShdw>
          </a:effectLst>
        </p:spPr>
      </p:sp>
      <p:sp>
        <p:nvSpPr>
          <p:cNvPr id="12" name="Text 9"/>
          <p:cNvSpPr txBox="1"/>
          <p:nvPr/>
        </p:nvSpPr>
        <p:spPr>
          <a:xfrm>
            <a:off x="3669030" y="2670048"/>
            <a:ext cx="2023110" cy="274320"/>
          </a:xfrm>
          <a:prstGeom prst="rect">
            <a:avLst/>
          </a:prstGeom>
          <a:noFill/>
          <a:ln/>
        </p:spPr>
        <p:txBody>
          <a:bodyPr wrap="square" rtlCol="0" anchor="ctr"/>
          <a:lstStyle/>
          <a:p>
            <a:pPr marL="0" indent="0">
              <a:buNone/>
            </a:pPr>
            <a:r>
              <a:rPr lang="en-US" sz="1050" b="1" kern="0" spc="150" dirty="0">
                <a:solidFill>
                  <a:srgbClr val="0078D4"/>
                </a:solidFill>
                <a:latin typeface="Calibri" pitchFamily="34" charset="0"/>
                <a:ea typeface="Calibri" pitchFamily="34" charset="-122"/>
                <a:cs typeface="Calibri" pitchFamily="34" charset="-120"/>
              </a:rPr>
              <a:t>STEP 2</a:t>
            </a:r>
            <a:endParaRPr lang="en-US" sz="1050" dirty="0"/>
          </a:p>
        </p:txBody>
      </p:sp>
      <p:sp>
        <p:nvSpPr>
          <p:cNvPr id="13" name="Shape 10"/>
          <p:cNvSpPr/>
          <p:nvPr/>
        </p:nvSpPr>
        <p:spPr>
          <a:xfrm>
            <a:off x="3669030" y="3035808"/>
            <a:ext cx="594360" cy="594360"/>
          </a:xfrm>
          <a:prstGeom prst="ellipse">
            <a:avLst/>
          </a:prstGeom>
          <a:solidFill>
            <a:srgbClr val="0078D4"/>
          </a:solidFill>
          <a:ln/>
        </p:spPr>
      </p:sp>
      <p:pic>
        <p:nvPicPr>
          <p:cNvPr id="14" name="Image 1" descr="preencoded.png"/>
          <p:cNvPicPr>
            <a:picLocks noChangeAspect="1"/>
          </p:cNvPicPr>
          <p:nvPr/>
        </p:nvPicPr>
        <p:blipFill>
          <a:blip r:embed="rId4"/>
          <a:stretch>
            <a:fillRect/>
          </a:stretch>
        </p:blipFill>
        <p:spPr>
          <a:xfrm>
            <a:off x="3746297" y="3113075"/>
            <a:ext cx="439826" cy="439826"/>
          </a:xfrm>
          <a:prstGeom prst="rect">
            <a:avLst/>
          </a:prstGeom>
        </p:spPr>
      </p:pic>
      <p:sp>
        <p:nvSpPr>
          <p:cNvPr id="15" name="Text 11"/>
          <p:cNvSpPr txBox="1"/>
          <p:nvPr/>
        </p:nvSpPr>
        <p:spPr>
          <a:xfrm>
            <a:off x="3669030" y="3794760"/>
            <a:ext cx="2023110" cy="365760"/>
          </a:xfrm>
          <a:prstGeom prst="rect">
            <a:avLst/>
          </a:prstGeom>
          <a:noFill/>
          <a:ln/>
        </p:spPr>
        <p:txBody>
          <a:bodyPr wrap="square" rtlCol="0" anchor="ctr"/>
          <a:lstStyle/>
          <a:p>
            <a:pPr marL="0" indent="0">
              <a:buNone/>
            </a:pPr>
            <a:r>
              <a:rPr lang="en-US" sz="1450" b="1" dirty="0">
                <a:solidFill>
                  <a:srgbClr val="15243A"/>
                </a:solidFill>
                <a:latin typeface="Calibri" pitchFamily="34" charset="0"/>
                <a:ea typeface="Calibri" pitchFamily="34" charset="-122"/>
                <a:cs typeface="Calibri" pitchFamily="34" charset="-120"/>
              </a:rPr>
              <a:t>Runs normally</a:t>
            </a:r>
            <a:endParaRPr lang="en-US" sz="1450" dirty="0"/>
          </a:p>
        </p:txBody>
      </p:sp>
      <p:sp>
        <p:nvSpPr>
          <p:cNvPr id="16" name="Text 12"/>
          <p:cNvSpPr txBox="1"/>
          <p:nvPr/>
        </p:nvSpPr>
        <p:spPr>
          <a:xfrm>
            <a:off x="3669030" y="4251960"/>
            <a:ext cx="2023110" cy="1645920"/>
          </a:xfrm>
          <a:prstGeom prst="rect">
            <a:avLst/>
          </a:prstGeom>
          <a:noFill/>
          <a:ln/>
        </p:spPr>
        <p:txBody>
          <a:bodyPr wrap="square" rtlCol="0" anchor="t"/>
          <a:lstStyle/>
          <a:p>
            <a:pPr marL="0" indent="0">
              <a:buNone/>
            </a:pPr>
            <a:r>
              <a:rPr lang="en-US" sz="1200" dirty="0">
                <a:solidFill>
                  <a:srgbClr val="5B6B7F"/>
                </a:solidFill>
                <a:latin typeface="Calibri" pitchFamily="34" charset="0"/>
                <a:ea typeface="Calibri" pitchFamily="34" charset="-122"/>
                <a:cs typeface="Calibri" pitchFamily="34" charset="-120"/>
              </a:rPr>
              <a:t>The VM runs like any standard VM at the discounted spot price.</a:t>
            </a:r>
            <a:endParaRPr lang="en-US" sz="1200" dirty="0"/>
          </a:p>
        </p:txBody>
      </p:sp>
      <p:sp>
        <p:nvSpPr>
          <p:cNvPr id="17" name="Text 13"/>
          <p:cNvSpPr txBox="1"/>
          <p:nvPr/>
        </p:nvSpPr>
        <p:spPr>
          <a:xfrm>
            <a:off x="5939028" y="4023360"/>
            <a:ext cx="283464" cy="457200"/>
          </a:xfrm>
          <a:prstGeom prst="rect">
            <a:avLst/>
          </a:prstGeom>
          <a:noFill/>
          <a:ln/>
        </p:spPr>
        <p:txBody>
          <a:bodyPr wrap="square" rtlCol="0" anchor="ctr"/>
          <a:lstStyle/>
          <a:p>
            <a:pPr marL="0" indent="0" algn="ctr">
              <a:buNone/>
            </a:pPr>
            <a:r>
              <a:rPr lang="en-US" sz="2000" b="1" dirty="0">
                <a:solidFill>
                  <a:srgbClr val="AAB9CE"/>
                </a:solidFill>
                <a:latin typeface="Arial" pitchFamily="34" charset="0"/>
                <a:ea typeface="Arial" pitchFamily="34" charset="-122"/>
                <a:cs typeface="Arial" pitchFamily="34" charset="-120"/>
              </a:rPr>
              <a:t>→</a:t>
            </a:r>
            <a:endParaRPr lang="en-US" sz="2000" dirty="0"/>
          </a:p>
        </p:txBody>
      </p:sp>
      <p:sp>
        <p:nvSpPr>
          <p:cNvPr id="18" name="Shape 14"/>
          <p:cNvSpPr/>
          <p:nvPr/>
        </p:nvSpPr>
        <p:spPr>
          <a:xfrm>
            <a:off x="6240780" y="2468880"/>
            <a:ext cx="2480310" cy="3566160"/>
          </a:xfrm>
          <a:prstGeom prst="roundRect">
            <a:avLst>
              <a:gd name="adj" fmla="val 2949"/>
            </a:avLst>
          </a:prstGeom>
          <a:solidFill>
            <a:srgbClr val="FFFFFF"/>
          </a:solidFill>
          <a:ln/>
          <a:effectLst>
            <a:outerShdw blurRad="76200" dist="25400" dir="5400000" algn="bl" rotWithShape="0">
              <a:srgbClr val="1B2A41">
                <a:alpha val="12000"/>
              </a:srgbClr>
            </a:outerShdw>
          </a:effectLst>
        </p:spPr>
      </p:sp>
      <p:sp>
        <p:nvSpPr>
          <p:cNvPr id="19" name="Text 15"/>
          <p:cNvSpPr txBox="1"/>
          <p:nvPr/>
        </p:nvSpPr>
        <p:spPr>
          <a:xfrm>
            <a:off x="6469380" y="2670048"/>
            <a:ext cx="2023110" cy="274320"/>
          </a:xfrm>
          <a:prstGeom prst="rect">
            <a:avLst/>
          </a:prstGeom>
          <a:noFill/>
          <a:ln/>
        </p:spPr>
        <p:txBody>
          <a:bodyPr wrap="square" rtlCol="0" anchor="ctr"/>
          <a:lstStyle/>
          <a:p>
            <a:pPr marL="0" indent="0">
              <a:buNone/>
            </a:pPr>
            <a:r>
              <a:rPr lang="en-US" sz="1050" b="1" kern="0" spc="150" dirty="0">
                <a:solidFill>
                  <a:srgbClr val="0078D4"/>
                </a:solidFill>
                <a:latin typeface="Calibri" pitchFamily="34" charset="0"/>
                <a:ea typeface="Calibri" pitchFamily="34" charset="-122"/>
                <a:cs typeface="Calibri" pitchFamily="34" charset="-120"/>
              </a:rPr>
              <a:t>STEP 3</a:t>
            </a:r>
            <a:endParaRPr lang="en-US" sz="1050" dirty="0"/>
          </a:p>
        </p:txBody>
      </p:sp>
      <p:sp>
        <p:nvSpPr>
          <p:cNvPr id="20" name="Shape 16"/>
          <p:cNvSpPr/>
          <p:nvPr/>
        </p:nvSpPr>
        <p:spPr>
          <a:xfrm>
            <a:off x="6469380" y="3035808"/>
            <a:ext cx="594360" cy="594360"/>
          </a:xfrm>
          <a:prstGeom prst="ellipse">
            <a:avLst/>
          </a:prstGeom>
          <a:solidFill>
            <a:srgbClr val="C0392B"/>
          </a:solidFill>
          <a:ln/>
        </p:spPr>
      </p:sp>
      <p:pic>
        <p:nvPicPr>
          <p:cNvPr id="21" name="Image 2" descr="preencoded.png"/>
          <p:cNvPicPr>
            <a:picLocks noChangeAspect="1"/>
          </p:cNvPicPr>
          <p:nvPr/>
        </p:nvPicPr>
        <p:blipFill>
          <a:blip r:embed="rId5"/>
          <a:stretch>
            <a:fillRect/>
          </a:stretch>
        </p:blipFill>
        <p:spPr>
          <a:xfrm>
            <a:off x="6546647" y="3113075"/>
            <a:ext cx="439826" cy="439826"/>
          </a:xfrm>
          <a:prstGeom prst="rect">
            <a:avLst/>
          </a:prstGeom>
        </p:spPr>
      </p:pic>
      <p:sp>
        <p:nvSpPr>
          <p:cNvPr id="22" name="Text 17"/>
          <p:cNvSpPr txBox="1"/>
          <p:nvPr/>
        </p:nvSpPr>
        <p:spPr>
          <a:xfrm>
            <a:off x="6469380" y="3794760"/>
            <a:ext cx="2023110" cy="365760"/>
          </a:xfrm>
          <a:prstGeom prst="rect">
            <a:avLst/>
          </a:prstGeom>
          <a:noFill/>
          <a:ln/>
        </p:spPr>
        <p:txBody>
          <a:bodyPr wrap="square" rtlCol="0" anchor="ctr"/>
          <a:lstStyle/>
          <a:p>
            <a:pPr marL="0" indent="0">
              <a:buNone/>
            </a:pPr>
            <a:r>
              <a:rPr lang="en-US" sz="1450" b="1" dirty="0">
                <a:solidFill>
                  <a:srgbClr val="15243A"/>
                </a:solidFill>
                <a:latin typeface="Calibri" pitchFamily="34" charset="0"/>
                <a:ea typeface="Calibri" pitchFamily="34" charset="-122"/>
                <a:cs typeface="Calibri" pitchFamily="34" charset="-120"/>
              </a:rPr>
              <a:t>Eviction notice</a:t>
            </a:r>
            <a:endParaRPr lang="en-US" sz="1450" dirty="0"/>
          </a:p>
        </p:txBody>
      </p:sp>
      <p:sp>
        <p:nvSpPr>
          <p:cNvPr id="23" name="Text 18"/>
          <p:cNvSpPr txBox="1"/>
          <p:nvPr/>
        </p:nvSpPr>
        <p:spPr>
          <a:xfrm>
            <a:off x="6469380" y="4251960"/>
            <a:ext cx="2023110" cy="1645920"/>
          </a:xfrm>
          <a:prstGeom prst="rect">
            <a:avLst/>
          </a:prstGeom>
          <a:noFill/>
          <a:ln/>
        </p:spPr>
        <p:txBody>
          <a:bodyPr wrap="square" rtlCol="0" anchor="t"/>
          <a:lstStyle/>
          <a:p>
            <a:pPr marL="0" indent="0">
              <a:buNone/>
            </a:pPr>
            <a:r>
              <a:rPr lang="en-US" sz="1200" dirty="0">
                <a:solidFill>
                  <a:srgbClr val="5B6B7F"/>
                </a:solidFill>
                <a:latin typeface="Calibri" pitchFamily="34" charset="0"/>
                <a:ea typeface="Calibri" pitchFamily="34" charset="-122"/>
                <a:cs typeface="Calibri" pitchFamily="34" charset="-120"/>
              </a:rPr>
              <a:t>Azure signals eviction ~30 seconds before reclaiming capacity.</a:t>
            </a:r>
            <a:endParaRPr lang="en-US" sz="1200" dirty="0"/>
          </a:p>
        </p:txBody>
      </p:sp>
      <p:sp>
        <p:nvSpPr>
          <p:cNvPr id="24" name="Text 19"/>
          <p:cNvSpPr txBox="1"/>
          <p:nvPr/>
        </p:nvSpPr>
        <p:spPr>
          <a:xfrm>
            <a:off x="8739378" y="4023360"/>
            <a:ext cx="283464" cy="457200"/>
          </a:xfrm>
          <a:prstGeom prst="rect">
            <a:avLst/>
          </a:prstGeom>
          <a:noFill/>
          <a:ln/>
        </p:spPr>
        <p:txBody>
          <a:bodyPr wrap="square" rtlCol="0" anchor="ctr"/>
          <a:lstStyle/>
          <a:p>
            <a:pPr marL="0" indent="0" algn="ctr">
              <a:buNone/>
            </a:pPr>
            <a:r>
              <a:rPr lang="en-US" sz="2000" b="1" dirty="0">
                <a:solidFill>
                  <a:srgbClr val="AAB9CE"/>
                </a:solidFill>
                <a:latin typeface="Arial" pitchFamily="34" charset="0"/>
                <a:ea typeface="Arial" pitchFamily="34" charset="-122"/>
                <a:cs typeface="Arial" pitchFamily="34" charset="-120"/>
              </a:rPr>
              <a:t>→</a:t>
            </a:r>
            <a:endParaRPr lang="en-US" sz="2000" dirty="0"/>
          </a:p>
        </p:txBody>
      </p:sp>
      <p:sp>
        <p:nvSpPr>
          <p:cNvPr id="25" name="Shape 20"/>
          <p:cNvSpPr/>
          <p:nvPr/>
        </p:nvSpPr>
        <p:spPr>
          <a:xfrm>
            <a:off x="9041130" y="2468880"/>
            <a:ext cx="2480310" cy="3566160"/>
          </a:xfrm>
          <a:prstGeom prst="roundRect">
            <a:avLst>
              <a:gd name="adj" fmla="val 2949"/>
            </a:avLst>
          </a:prstGeom>
          <a:solidFill>
            <a:srgbClr val="FFFFFF"/>
          </a:solidFill>
          <a:ln/>
          <a:effectLst>
            <a:outerShdw blurRad="76200" dist="25400" dir="5400000" algn="bl" rotWithShape="0">
              <a:srgbClr val="1B2A41">
                <a:alpha val="12000"/>
              </a:srgbClr>
            </a:outerShdw>
          </a:effectLst>
        </p:spPr>
      </p:sp>
      <p:sp>
        <p:nvSpPr>
          <p:cNvPr id="26" name="Text 21"/>
          <p:cNvSpPr txBox="1"/>
          <p:nvPr/>
        </p:nvSpPr>
        <p:spPr>
          <a:xfrm>
            <a:off x="9269730" y="2670048"/>
            <a:ext cx="2023110" cy="274320"/>
          </a:xfrm>
          <a:prstGeom prst="rect">
            <a:avLst/>
          </a:prstGeom>
          <a:noFill/>
          <a:ln/>
        </p:spPr>
        <p:txBody>
          <a:bodyPr wrap="square" rtlCol="0" anchor="ctr"/>
          <a:lstStyle/>
          <a:p>
            <a:pPr marL="0" indent="0">
              <a:buNone/>
            </a:pPr>
            <a:r>
              <a:rPr lang="en-US" sz="1050" b="1" kern="0" spc="150" dirty="0">
                <a:solidFill>
                  <a:srgbClr val="0078D4"/>
                </a:solidFill>
                <a:latin typeface="Calibri" pitchFamily="34" charset="0"/>
                <a:ea typeface="Calibri" pitchFamily="34" charset="-122"/>
                <a:cs typeface="Calibri" pitchFamily="34" charset="-120"/>
              </a:rPr>
              <a:t>STEP 4</a:t>
            </a:r>
            <a:endParaRPr lang="en-US" sz="1050" dirty="0"/>
          </a:p>
        </p:txBody>
      </p:sp>
      <p:sp>
        <p:nvSpPr>
          <p:cNvPr id="27" name="Shape 22"/>
          <p:cNvSpPr/>
          <p:nvPr/>
        </p:nvSpPr>
        <p:spPr>
          <a:xfrm>
            <a:off x="9269730" y="3035808"/>
            <a:ext cx="594360" cy="594360"/>
          </a:xfrm>
          <a:prstGeom prst="ellipse">
            <a:avLst/>
          </a:prstGeom>
          <a:solidFill>
            <a:srgbClr val="0078D4"/>
          </a:solidFill>
          <a:ln/>
        </p:spPr>
      </p:sp>
      <p:pic>
        <p:nvPicPr>
          <p:cNvPr id="28" name="Image 3" descr="preencoded.png"/>
          <p:cNvPicPr>
            <a:picLocks noChangeAspect="1"/>
          </p:cNvPicPr>
          <p:nvPr/>
        </p:nvPicPr>
        <p:blipFill>
          <a:blip r:embed="rId6"/>
          <a:stretch>
            <a:fillRect/>
          </a:stretch>
        </p:blipFill>
        <p:spPr>
          <a:xfrm>
            <a:off x="9346997" y="3113075"/>
            <a:ext cx="439826" cy="439826"/>
          </a:xfrm>
          <a:prstGeom prst="rect">
            <a:avLst/>
          </a:prstGeom>
        </p:spPr>
      </p:pic>
      <p:sp>
        <p:nvSpPr>
          <p:cNvPr id="29" name="Text 23"/>
          <p:cNvSpPr txBox="1"/>
          <p:nvPr/>
        </p:nvSpPr>
        <p:spPr>
          <a:xfrm>
            <a:off x="9269730" y="3794760"/>
            <a:ext cx="2023110" cy="365760"/>
          </a:xfrm>
          <a:prstGeom prst="rect">
            <a:avLst/>
          </a:prstGeom>
          <a:noFill/>
          <a:ln/>
        </p:spPr>
        <p:txBody>
          <a:bodyPr wrap="square" rtlCol="0" anchor="ctr"/>
          <a:lstStyle/>
          <a:p>
            <a:pPr marL="0" indent="0">
              <a:buNone/>
            </a:pPr>
            <a:r>
              <a:rPr lang="en-US" sz="1450" b="1" dirty="0">
                <a:solidFill>
                  <a:srgbClr val="15243A"/>
                </a:solidFill>
                <a:latin typeface="Calibri" pitchFamily="34" charset="0"/>
                <a:ea typeface="Calibri" pitchFamily="34" charset="-122"/>
                <a:cs typeface="Calibri" pitchFamily="34" charset="-120"/>
              </a:rPr>
              <a:t>Reclaimed</a:t>
            </a:r>
            <a:endParaRPr lang="en-US" sz="1450" dirty="0"/>
          </a:p>
        </p:txBody>
      </p:sp>
      <p:sp>
        <p:nvSpPr>
          <p:cNvPr id="30" name="Text 24"/>
          <p:cNvSpPr txBox="1"/>
          <p:nvPr/>
        </p:nvSpPr>
        <p:spPr>
          <a:xfrm>
            <a:off x="9269730" y="4251960"/>
            <a:ext cx="2023110" cy="1645920"/>
          </a:xfrm>
          <a:prstGeom prst="rect">
            <a:avLst/>
          </a:prstGeom>
          <a:noFill/>
          <a:ln/>
        </p:spPr>
        <p:txBody>
          <a:bodyPr wrap="square" rtlCol="0" anchor="t"/>
          <a:lstStyle/>
          <a:p>
            <a:pPr marL="0" indent="0">
              <a:buNone/>
            </a:pPr>
            <a:r>
              <a:rPr lang="en-US" sz="1200" dirty="0">
                <a:solidFill>
                  <a:srgbClr val="5B6B7F"/>
                </a:solidFill>
                <a:latin typeface="Calibri" pitchFamily="34" charset="0"/>
                <a:ea typeface="Calibri" pitchFamily="34" charset="-122"/>
                <a:cs typeface="Calibri" pitchFamily="34" charset="-120"/>
              </a:rPr>
              <a:t>The VM is stopped/deallocated or deleted per your chosen policy.</a:t>
            </a:r>
            <a:endParaRPr lang="en-US" sz="1200" dirty="0"/>
          </a:p>
        </p:txBody>
      </p:sp>
      <p:sp>
        <p:nvSpPr>
          <p:cNvPr id="31" name="Text 25"/>
          <p:cNvSpPr/>
          <p:nvPr/>
        </p:nvSpPr>
        <p:spPr>
          <a:xfrm>
            <a:off x="457200" y="6473952"/>
            <a:ext cx="5486400" cy="274320"/>
          </a:xfrm>
          <a:prstGeom prst="rect">
            <a:avLst/>
          </a:prstGeom>
          <a:noFill/>
          <a:ln/>
        </p:spPr>
        <p:txBody>
          <a:bodyPr wrap="square" rtlCol="0" anchor="ctr"/>
          <a:lstStyle/>
          <a:p>
            <a:pPr marL="0" indent="0" algn="l">
              <a:buNone/>
            </a:pPr>
            <a:r>
              <a:rPr lang="en-US" sz="1000" dirty="0">
                <a:solidFill>
                  <a:srgbClr val="5B6B7F"/>
                </a:solidFill>
                <a:latin typeface="Calibri" pitchFamily="34" charset="0"/>
                <a:ea typeface="Calibri" pitchFamily="34" charset="-122"/>
                <a:cs typeface="Calibri" pitchFamily="34" charset="-120"/>
              </a:rPr>
              <a:t>Azure Spot Virtual Machines</a:t>
            </a:r>
            <a:endParaRPr lang="en-US" sz="1000" dirty="0"/>
          </a:p>
        </p:txBody>
      </p:sp>
      <p:sp>
        <p:nvSpPr>
          <p:cNvPr id="32" name="Text 26"/>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C"/>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9144000" cy="640080"/>
          </a:xfrm>
          <a:prstGeom prst="rect">
            <a:avLst/>
          </a:prstGeom>
          <a:noFill/>
          <a:ln/>
        </p:spPr>
        <p:txBody>
          <a:bodyPr wrap="square" rtlCol="0" anchor="ctr"/>
          <a:lstStyle/>
          <a:p>
            <a:pPr marL="0" indent="0">
              <a:buNone/>
            </a:pPr>
            <a:r>
              <a:rPr lang="en-US" sz="3200" b="1" dirty="0">
                <a:solidFill>
                  <a:srgbClr val="15243A"/>
                </a:solidFill>
                <a:latin typeface="Cambria" pitchFamily="34" charset="0"/>
                <a:ea typeface="Cambria" pitchFamily="34" charset="-122"/>
                <a:cs typeface="Cambria" pitchFamily="34" charset="-120"/>
              </a:rPr>
              <a:t>Ideal Use Cases</a:t>
            </a:r>
            <a:endParaRPr lang="en-US" sz="3200" dirty="0"/>
          </a:p>
        </p:txBody>
      </p:sp>
      <p:sp>
        <p:nvSpPr>
          <p:cNvPr id="3" name="Text 1"/>
          <p:cNvSpPr txBox="1"/>
          <p:nvPr/>
        </p:nvSpPr>
        <p:spPr>
          <a:xfrm>
            <a:off x="640080" y="1170432"/>
            <a:ext cx="9875520" cy="457200"/>
          </a:xfrm>
          <a:prstGeom prst="rect">
            <a:avLst/>
          </a:prstGeom>
          <a:noFill/>
          <a:ln/>
        </p:spPr>
        <p:txBody>
          <a:bodyPr wrap="square" rtlCol="0" anchor="ctr"/>
          <a:lstStyle/>
          <a:p>
            <a:pPr marL="0" indent="0">
              <a:buNone/>
            </a:pPr>
            <a:r>
              <a:rPr lang="en-US" sz="1400" dirty="0">
                <a:solidFill>
                  <a:srgbClr val="5B6B7F"/>
                </a:solidFill>
                <a:latin typeface="Calibri" pitchFamily="34" charset="0"/>
                <a:ea typeface="Calibri" pitchFamily="34" charset="-122"/>
                <a:cs typeface="Calibri" pitchFamily="34" charset="-120"/>
              </a:rPr>
              <a:t>Any workload that can tolerate interruption and resume later is a strong fit for Spot VMs</a:t>
            </a:r>
            <a:endParaRPr lang="en-US" sz="1400" dirty="0"/>
          </a:p>
        </p:txBody>
      </p:sp>
      <p:sp>
        <p:nvSpPr>
          <p:cNvPr id="4" name="Shape 2"/>
          <p:cNvSpPr/>
          <p:nvPr/>
        </p:nvSpPr>
        <p:spPr>
          <a:xfrm>
            <a:off x="640080" y="2011680"/>
            <a:ext cx="10881360" cy="960120"/>
          </a:xfrm>
          <a:prstGeom prst="roundRect">
            <a:avLst>
              <a:gd name="adj" fmla="val 7619"/>
            </a:avLst>
          </a:prstGeom>
          <a:solidFill>
            <a:srgbClr val="FFFFFF"/>
          </a:solidFill>
          <a:ln/>
          <a:effectLst>
            <a:outerShdw blurRad="63500" dist="25400" dir="5400000" algn="bl" rotWithShape="0">
              <a:srgbClr val="1B2A41">
                <a:alpha val="10000"/>
              </a:srgbClr>
            </a:outerShdw>
          </a:effectLst>
        </p:spPr>
      </p:sp>
      <p:sp>
        <p:nvSpPr>
          <p:cNvPr id="5" name="Shape 3"/>
          <p:cNvSpPr/>
          <p:nvPr/>
        </p:nvSpPr>
        <p:spPr>
          <a:xfrm>
            <a:off x="914400" y="2217420"/>
            <a:ext cx="548640" cy="548640"/>
          </a:xfrm>
          <a:prstGeom prst="ellipse">
            <a:avLst/>
          </a:prstGeom>
          <a:solidFill>
            <a:srgbClr val="0078D4"/>
          </a:solidFill>
          <a:ln/>
        </p:spPr>
      </p:sp>
      <p:pic>
        <p:nvPicPr>
          <p:cNvPr id="6" name="Image 0" descr="preencoded.png"/>
          <p:cNvPicPr>
            <a:picLocks noChangeAspect="1"/>
          </p:cNvPicPr>
          <p:nvPr/>
        </p:nvPicPr>
        <p:blipFill>
          <a:blip r:embed="rId3"/>
          <a:stretch>
            <a:fillRect/>
          </a:stretch>
        </p:blipFill>
        <p:spPr>
          <a:xfrm>
            <a:off x="985723" y="2288743"/>
            <a:ext cx="405994" cy="405994"/>
          </a:xfrm>
          <a:prstGeom prst="rect">
            <a:avLst/>
          </a:prstGeom>
        </p:spPr>
      </p:pic>
      <p:sp>
        <p:nvSpPr>
          <p:cNvPr id="7" name="Text 4"/>
          <p:cNvSpPr txBox="1"/>
          <p:nvPr/>
        </p:nvSpPr>
        <p:spPr>
          <a:xfrm>
            <a:off x="1691640" y="2121408"/>
            <a:ext cx="3291840" cy="731520"/>
          </a:xfrm>
          <a:prstGeom prst="rect">
            <a:avLst/>
          </a:prstGeom>
          <a:noFill/>
          <a:ln/>
        </p:spPr>
        <p:txBody>
          <a:bodyPr wrap="square" rtlCol="0" anchor="ctr"/>
          <a:lstStyle/>
          <a:p>
            <a:pPr marL="0" indent="0">
              <a:buNone/>
            </a:pPr>
            <a:r>
              <a:rPr lang="en-US" sz="1400" b="1" dirty="0">
                <a:solidFill>
                  <a:srgbClr val="15243A"/>
                </a:solidFill>
                <a:latin typeface="Calibri" pitchFamily="34" charset="0"/>
                <a:ea typeface="Calibri" pitchFamily="34" charset="-122"/>
                <a:cs typeface="Calibri" pitchFamily="34" charset="-120"/>
              </a:rPr>
              <a:t>Batch &amp; big data processing</a:t>
            </a:r>
            <a:endParaRPr lang="en-US" sz="1400" dirty="0"/>
          </a:p>
        </p:txBody>
      </p:sp>
      <p:sp>
        <p:nvSpPr>
          <p:cNvPr id="8" name="Text 5"/>
          <p:cNvSpPr txBox="1"/>
          <p:nvPr/>
        </p:nvSpPr>
        <p:spPr>
          <a:xfrm>
            <a:off x="5120640" y="2121408"/>
            <a:ext cx="6126480" cy="731520"/>
          </a:xfrm>
          <a:prstGeom prst="rect">
            <a:avLst/>
          </a:prstGeom>
          <a:noFill/>
          <a:ln/>
        </p:spPr>
        <p:txBody>
          <a:bodyPr wrap="square" rtlCol="0" anchor="ctr"/>
          <a:lstStyle/>
          <a:p>
            <a:pPr marL="0" indent="0">
              <a:buNone/>
            </a:pPr>
            <a:r>
              <a:rPr lang="en-US" sz="1200" dirty="0">
                <a:solidFill>
                  <a:srgbClr val="5B6B7F"/>
                </a:solidFill>
                <a:latin typeface="Calibri" pitchFamily="34" charset="0"/>
                <a:ea typeface="Calibri" pitchFamily="34" charset="-122"/>
                <a:cs typeface="Calibri" pitchFamily="34" charset="-120"/>
              </a:rPr>
              <a:t>Large parallel jobs (Spark, Hadoop, HPC) that checkpoint progress and can resume after a pause.</a:t>
            </a:r>
            <a:endParaRPr lang="en-US" sz="1200" dirty="0"/>
          </a:p>
        </p:txBody>
      </p:sp>
      <p:sp>
        <p:nvSpPr>
          <p:cNvPr id="9" name="Shape 6"/>
          <p:cNvSpPr/>
          <p:nvPr/>
        </p:nvSpPr>
        <p:spPr>
          <a:xfrm>
            <a:off x="640080" y="3108960"/>
            <a:ext cx="10881360" cy="960120"/>
          </a:xfrm>
          <a:prstGeom prst="roundRect">
            <a:avLst>
              <a:gd name="adj" fmla="val 7619"/>
            </a:avLst>
          </a:prstGeom>
          <a:solidFill>
            <a:srgbClr val="FFFFFF"/>
          </a:solidFill>
          <a:ln/>
          <a:effectLst>
            <a:outerShdw blurRad="63500" dist="25400" dir="5400000" algn="bl" rotWithShape="0">
              <a:srgbClr val="1B2A41">
                <a:alpha val="10000"/>
              </a:srgbClr>
            </a:outerShdw>
          </a:effectLst>
        </p:spPr>
      </p:sp>
      <p:sp>
        <p:nvSpPr>
          <p:cNvPr id="10" name="Shape 7"/>
          <p:cNvSpPr/>
          <p:nvPr/>
        </p:nvSpPr>
        <p:spPr>
          <a:xfrm>
            <a:off x="914400" y="3314700"/>
            <a:ext cx="548640" cy="548640"/>
          </a:xfrm>
          <a:prstGeom prst="ellipse">
            <a:avLst/>
          </a:prstGeom>
          <a:solidFill>
            <a:srgbClr val="0078D4"/>
          </a:solidFill>
          <a:ln/>
        </p:spPr>
      </p:sp>
      <p:pic>
        <p:nvPicPr>
          <p:cNvPr id="11" name="Image 1" descr="preencoded.png"/>
          <p:cNvPicPr>
            <a:picLocks noChangeAspect="1"/>
          </p:cNvPicPr>
          <p:nvPr/>
        </p:nvPicPr>
        <p:blipFill>
          <a:blip r:embed="rId4"/>
          <a:stretch>
            <a:fillRect/>
          </a:stretch>
        </p:blipFill>
        <p:spPr>
          <a:xfrm>
            <a:off x="985723" y="3386023"/>
            <a:ext cx="405994" cy="405994"/>
          </a:xfrm>
          <a:prstGeom prst="rect">
            <a:avLst/>
          </a:prstGeom>
        </p:spPr>
      </p:pic>
      <p:sp>
        <p:nvSpPr>
          <p:cNvPr id="12" name="Text 8"/>
          <p:cNvSpPr txBox="1"/>
          <p:nvPr/>
        </p:nvSpPr>
        <p:spPr>
          <a:xfrm>
            <a:off x="1691640" y="3218688"/>
            <a:ext cx="3291840" cy="731520"/>
          </a:xfrm>
          <a:prstGeom prst="rect">
            <a:avLst/>
          </a:prstGeom>
          <a:noFill/>
          <a:ln/>
        </p:spPr>
        <p:txBody>
          <a:bodyPr wrap="square" rtlCol="0" anchor="ctr"/>
          <a:lstStyle/>
          <a:p>
            <a:pPr marL="0" indent="0">
              <a:buNone/>
            </a:pPr>
            <a:r>
              <a:rPr lang="en-US" sz="1400" b="1" dirty="0">
                <a:solidFill>
                  <a:srgbClr val="15243A"/>
                </a:solidFill>
                <a:latin typeface="Calibri" pitchFamily="34" charset="0"/>
                <a:ea typeface="Calibri" pitchFamily="34" charset="-122"/>
                <a:cs typeface="Calibri" pitchFamily="34" charset="-120"/>
              </a:rPr>
              <a:t>CI/CD build &amp; test agents</a:t>
            </a:r>
            <a:endParaRPr lang="en-US" sz="1400" dirty="0"/>
          </a:p>
        </p:txBody>
      </p:sp>
      <p:sp>
        <p:nvSpPr>
          <p:cNvPr id="13" name="Text 9"/>
          <p:cNvSpPr txBox="1"/>
          <p:nvPr/>
        </p:nvSpPr>
        <p:spPr>
          <a:xfrm>
            <a:off x="5120640" y="3218688"/>
            <a:ext cx="6126480" cy="731520"/>
          </a:xfrm>
          <a:prstGeom prst="rect">
            <a:avLst/>
          </a:prstGeom>
          <a:noFill/>
          <a:ln/>
        </p:spPr>
        <p:txBody>
          <a:bodyPr wrap="square" rtlCol="0" anchor="ctr"/>
          <a:lstStyle/>
          <a:p>
            <a:pPr marL="0" indent="0">
              <a:buNone/>
            </a:pPr>
            <a:r>
              <a:rPr lang="en-US" sz="1200" dirty="0">
                <a:solidFill>
                  <a:srgbClr val="5B6B7F"/>
                </a:solidFill>
                <a:latin typeface="Calibri" pitchFamily="34" charset="0"/>
                <a:ea typeface="Calibri" pitchFamily="34" charset="-122"/>
                <a:cs typeface="Calibri" pitchFamily="34" charset="-120"/>
              </a:rPr>
              <a:t>Ephemeral build agents where a failed job simply retries on the next available node.</a:t>
            </a:r>
            <a:endParaRPr lang="en-US" sz="1200" dirty="0"/>
          </a:p>
        </p:txBody>
      </p:sp>
      <p:sp>
        <p:nvSpPr>
          <p:cNvPr id="14" name="Shape 10"/>
          <p:cNvSpPr/>
          <p:nvPr/>
        </p:nvSpPr>
        <p:spPr>
          <a:xfrm>
            <a:off x="640080" y="4206240"/>
            <a:ext cx="10881360" cy="960120"/>
          </a:xfrm>
          <a:prstGeom prst="roundRect">
            <a:avLst>
              <a:gd name="adj" fmla="val 7619"/>
            </a:avLst>
          </a:prstGeom>
          <a:solidFill>
            <a:srgbClr val="FFFFFF"/>
          </a:solidFill>
          <a:ln/>
          <a:effectLst>
            <a:outerShdw blurRad="63500" dist="25400" dir="5400000" algn="bl" rotWithShape="0">
              <a:srgbClr val="1B2A41">
                <a:alpha val="10000"/>
              </a:srgbClr>
            </a:outerShdw>
          </a:effectLst>
        </p:spPr>
      </p:sp>
      <p:sp>
        <p:nvSpPr>
          <p:cNvPr id="15" name="Shape 11"/>
          <p:cNvSpPr/>
          <p:nvPr/>
        </p:nvSpPr>
        <p:spPr>
          <a:xfrm>
            <a:off x="914400" y="4411980"/>
            <a:ext cx="548640" cy="548640"/>
          </a:xfrm>
          <a:prstGeom prst="ellipse">
            <a:avLst/>
          </a:prstGeom>
          <a:solidFill>
            <a:srgbClr val="0078D4"/>
          </a:solidFill>
          <a:ln/>
        </p:spPr>
      </p:sp>
      <p:pic>
        <p:nvPicPr>
          <p:cNvPr id="16" name="Image 2" descr="preencoded.png"/>
          <p:cNvPicPr>
            <a:picLocks noChangeAspect="1"/>
          </p:cNvPicPr>
          <p:nvPr/>
        </p:nvPicPr>
        <p:blipFill>
          <a:blip r:embed="rId5"/>
          <a:stretch>
            <a:fillRect/>
          </a:stretch>
        </p:blipFill>
        <p:spPr>
          <a:xfrm>
            <a:off x="985723" y="4483303"/>
            <a:ext cx="405994" cy="405994"/>
          </a:xfrm>
          <a:prstGeom prst="rect">
            <a:avLst/>
          </a:prstGeom>
        </p:spPr>
      </p:pic>
      <p:sp>
        <p:nvSpPr>
          <p:cNvPr id="17" name="Text 12"/>
          <p:cNvSpPr txBox="1"/>
          <p:nvPr/>
        </p:nvSpPr>
        <p:spPr>
          <a:xfrm>
            <a:off x="1691640" y="4315968"/>
            <a:ext cx="3291840" cy="731520"/>
          </a:xfrm>
          <a:prstGeom prst="rect">
            <a:avLst/>
          </a:prstGeom>
          <a:noFill/>
          <a:ln/>
        </p:spPr>
        <p:txBody>
          <a:bodyPr wrap="square" rtlCol="0" anchor="ctr"/>
          <a:lstStyle/>
          <a:p>
            <a:pPr marL="0" indent="0">
              <a:buNone/>
            </a:pPr>
            <a:r>
              <a:rPr lang="en-US" sz="1400" b="1" dirty="0">
                <a:solidFill>
                  <a:srgbClr val="15243A"/>
                </a:solidFill>
                <a:latin typeface="Calibri" pitchFamily="34" charset="0"/>
                <a:ea typeface="Calibri" pitchFamily="34" charset="-122"/>
                <a:cs typeface="Calibri" pitchFamily="34" charset="-120"/>
              </a:rPr>
              <a:t>Rendering &amp; media encoding</a:t>
            </a:r>
            <a:endParaRPr lang="en-US" sz="1400" dirty="0"/>
          </a:p>
        </p:txBody>
      </p:sp>
      <p:sp>
        <p:nvSpPr>
          <p:cNvPr id="18" name="Text 13"/>
          <p:cNvSpPr txBox="1"/>
          <p:nvPr/>
        </p:nvSpPr>
        <p:spPr>
          <a:xfrm>
            <a:off x="5120640" y="4315968"/>
            <a:ext cx="6126480" cy="731520"/>
          </a:xfrm>
          <a:prstGeom prst="rect">
            <a:avLst/>
          </a:prstGeom>
          <a:noFill/>
          <a:ln/>
        </p:spPr>
        <p:txBody>
          <a:bodyPr wrap="square" rtlCol="0" anchor="ctr"/>
          <a:lstStyle/>
          <a:p>
            <a:pPr marL="0" indent="0">
              <a:buNone/>
            </a:pPr>
            <a:r>
              <a:rPr lang="en-US" sz="1200" dirty="0">
                <a:solidFill>
                  <a:srgbClr val="5B6B7F"/>
                </a:solidFill>
                <a:latin typeface="Calibri" pitchFamily="34" charset="0"/>
                <a:ea typeface="Calibri" pitchFamily="34" charset="-122"/>
                <a:cs typeface="Calibri" pitchFamily="34" charset="-120"/>
              </a:rPr>
              <a:t>Frame-by-frame or chunked rendering jobs that pick up where they left off.</a:t>
            </a:r>
            <a:endParaRPr lang="en-US" sz="1200" dirty="0"/>
          </a:p>
        </p:txBody>
      </p:sp>
      <p:sp>
        <p:nvSpPr>
          <p:cNvPr id="19" name="Shape 14"/>
          <p:cNvSpPr/>
          <p:nvPr/>
        </p:nvSpPr>
        <p:spPr>
          <a:xfrm>
            <a:off x="640080" y="5303520"/>
            <a:ext cx="10881360" cy="960120"/>
          </a:xfrm>
          <a:prstGeom prst="roundRect">
            <a:avLst>
              <a:gd name="adj" fmla="val 7619"/>
            </a:avLst>
          </a:prstGeom>
          <a:solidFill>
            <a:srgbClr val="FFFFFF"/>
          </a:solidFill>
          <a:ln/>
          <a:effectLst>
            <a:outerShdw blurRad="63500" dist="25400" dir="5400000" algn="bl" rotWithShape="0">
              <a:srgbClr val="1B2A41">
                <a:alpha val="10000"/>
              </a:srgbClr>
            </a:outerShdw>
          </a:effectLst>
        </p:spPr>
      </p:sp>
      <p:sp>
        <p:nvSpPr>
          <p:cNvPr id="20" name="Shape 15"/>
          <p:cNvSpPr/>
          <p:nvPr/>
        </p:nvSpPr>
        <p:spPr>
          <a:xfrm>
            <a:off x="914400" y="5509260"/>
            <a:ext cx="548640" cy="548640"/>
          </a:xfrm>
          <a:prstGeom prst="ellipse">
            <a:avLst/>
          </a:prstGeom>
          <a:solidFill>
            <a:srgbClr val="0078D4"/>
          </a:solidFill>
          <a:ln/>
        </p:spPr>
      </p:sp>
      <p:pic>
        <p:nvPicPr>
          <p:cNvPr id="21" name="Image 3" descr="preencoded.png"/>
          <p:cNvPicPr>
            <a:picLocks noChangeAspect="1"/>
          </p:cNvPicPr>
          <p:nvPr/>
        </p:nvPicPr>
        <p:blipFill>
          <a:blip r:embed="rId6"/>
          <a:stretch>
            <a:fillRect/>
          </a:stretch>
        </p:blipFill>
        <p:spPr>
          <a:xfrm>
            <a:off x="985723" y="5580583"/>
            <a:ext cx="405994" cy="405994"/>
          </a:xfrm>
          <a:prstGeom prst="rect">
            <a:avLst/>
          </a:prstGeom>
        </p:spPr>
      </p:pic>
      <p:sp>
        <p:nvSpPr>
          <p:cNvPr id="22" name="Text 16"/>
          <p:cNvSpPr txBox="1"/>
          <p:nvPr/>
        </p:nvSpPr>
        <p:spPr>
          <a:xfrm>
            <a:off x="1691640" y="5413248"/>
            <a:ext cx="3291840" cy="731520"/>
          </a:xfrm>
          <a:prstGeom prst="rect">
            <a:avLst/>
          </a:prstGeom>
          <a:noFill/>
          <a:ln/>
        </p:spPr>
        <p:txBody>
          <a:bodyPr wrap="square" rtlCol="0" anchor="ctr"/>
          <a:lstStyle/>
          <a:p>
            <a:pPr marL="0" indent="0">
              <a:buNone/>
            </a:pPr>
            <a:r>
              <a:rPr lang="en-US" sz="1400" b="1" dirty="0">
                <a:solidFill>
                  <a:srgbClr val="15243A"/>
                </a:solidFill>
                <a:latin typeface="Calibri" pitchFamily="34" charset="0"/>
                <a:ea typeface="Calibri" pitchFamily="34" charset="-122"/>
                <a:cs typeface="Calibri" pitchFamily="34" charset="-120"/>
              </a:rPr>
              <a:t>Dev/test environments</a:t>
            </a:r>
            <a:endParaRPr lang="en-US" sz="1400" dirty="0"/>
          </a:p>
        </p:txBody>
      </p:sp>
      <p:sp>
        <p:nvSpPr>
          <p:cNvPr id="23" name="Text 17"/>
          <p:cNvSpPr txBox="1"/>
          <p:nvPr/>
        </p:nvSpPr>
        <p:spPr>
          <a:xfrm>
            <a:off x="5120640" y="5413248"/>
            <a:ext cx="6126480" cy="731520"/>
          </a:xfrm>
          <a:prstGeom prst="rect">
            <a:avLst/>
          </a:prstGeom>
          <a:noFill/>
          <a:ln/>
        </p:spPr>
        <p:txBody>
          <a:bodyPr wrap="square" rtlCol="0" anchor="ctr"/>
          <a:lstStyle/>
          <a:p>
            <a:pPr marL="0" indent="0">
              <a:buNone/>
            </a:pPr>
            <a:r>
              <a:rPr lang="en-US" sz="1200" dirty="0">
                <a:solidFill>
                  <a:srgbClr val="5B6B7F"/>
                </a:solidFill>
                <a:latin typeface="Calibri" pitchFamily="34" charset="0"/>
                <a:ea typeface="Calibri" pitchFamily="34" charset="-122"/>
                <a:cs typeface="Calibri" pitchFamily="34" charset="-120"/>
              </a:rPr>
              <a:t>Non-production environments that don't need uptime guarantees outside working hours.</a:t>
            </a:r>
            <a:endParaRPr lang="en-US" sz="1200" dirty="0"/>
          </a:p>
        </p:txBody>
      </p:sp>
      <p:sp>
        <p:nvSpPr>
          <p:cNvPr id="24" name="Text 18"/>
          <p:cNvSpPr/>
          <p:nvPr/>
        </p:nvSpPr>
        <p:spPr>
          <a:xfrm>
            <a:off x="457200" y="6473952"/>
            <a:ext cx="5486400" cy="274320"/>
          </a:xfrm>
          <a:prstGeom prst="rect">
            <a:avLst/>
          </a:prstGeom>
          <a:noFill/>
          <a:ln/>
        </p:spPr>
        <p:txBody>
          <a:bodyPr wrap="square" rtlCol="0" anchor="ctr"/>
          <a:lstStyle/>
          <a:p>
            <a:pPr marL="0" indent="0" algn="l">
              <a:buNone/>
            </a:pPr>
            <a:r>
              <a:rPr lang="en-US" sz="1000" dirty="0">
                <a:solidFill>
                  <a:srgbClr val="5B6B7F"/>
                </a:solidFill>
                <a:latin typeface="Calibri" pitchFamily="34" charset="0"/>
                <a:ea typeface="Calibri" pitchFamily="34" charset="-122"/>
                <a:cs typeface="Calibri" pitchFamily="34" charset="-120"/>
              </a:rPr>
              <a:t>Azure Spot Virtual Machines</a:t>
            </a:r>
            <a:endParaRPr lang="en-US" sz="1000" dirty="0"/>
          </a:p>
        </p:txBody>
      </p:sp>
      <p:sp>
        <p:nvSpPr>
          <p:cNvPr id="25" name="Text 19"/>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F3B"/>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914400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Designing for Interruption</a:t>
            </a:r>
            <a:endParaRPr lang="en-US" sz="3200" dirty="0"/>
          </a:p>
        </p:txBody>
      </p:sp>
      <p:sp>
        <p:nvSpPr>
          <p:cNvPr id="3" name="Text 1"/>
          <p:cNvSpPr txBox="1"/>
          <p:nvPr/>
        </p:nvSpPr>
        <p:spPr>
          <a:xfrm>
            <a:off x="640080" y="1170432"/>
            <a:ext cx="9875520" cy="457200"/>
          </a:xfrm>
          <a:prstGeom prst="rect">
            <a:avLst/>
          </a:prstGeom>
          <a:noFill/>
          <a:ln/>
        </p:spPr>
        <p:txBody>
          <a:bodyPr wrap="square" rtlCol="0" anchor="ctr"/>
          <a:lstStyle/>
          <a:p>
            <a:pPr marL="0" indent="0">
              <a:buNone/>
            </a:pPr>
            <a:r>
              <a:rPr lang="en-US" sz="1400" dirty="0">
                <a:solidFill>
                  <a:srgbClr val="AAB9CE"/>
                </a:solidFill>
                <a:latin typeface="Calibri" pitchFamily="34" charset="0"/>
                <a:ea typeface="Calibri" pitchFamily="34" charset="-122"/>
                <a:cs typeface="Calibri" pitchFamily="34" charset="-120"/>
              </a:rPr>
              <a:t>A few architectural habits make Spot VMs reliable in production pipelines</a:t>
            </a:r>
            <a:endParaRPr lang="en-US" sz="1400" dirty="0"/>
          </a:p>
        </p:txBody>
      </p:sp>
      <p:sp>
        <p:nvSpPr>
          <p:cNvPr id="4" name="Shape 2"/>
          <p:cNvSpPr/>
          <p:nvPr/>
        </p:nvSpPr>
        <p:spPr>
          <a:xfrm>
            <a:off x="640080" y="1874520"/>
            <a:ext cx="3566160" cy="2148840"/>
          </a:xfrm>
          <a:prstGeom prst="roundRect">
            <a:avLst>
              <a:gd name="adj" fmla="val 3404"/>
            </a:avLst>
          </a:prstGeom>
          <a:solidFill>
            <a:srgbClr val="132A4E"/>
          </a:solidFill>
          <a:ln/>
        </p:spPr>
      </p:sp>
      <p:sp>
        <p:nvSpPr>
          <p:cNvPr id="5" name="Shape 3"/>
          <p:cNvSpPr/>
          <p:nvPr/>
        </p:nvSpPr>
        <p:spPr>
          <a:xfrm>
            <a:off x="868680" y="2103120"/>
            <a:ext cx="502920" cy="502920"/>
          </a:xfrm>
          <a:prstGeom prst="ellipse">
            <a:avLst/>
          </a:prstGeom>
          <a:solidFill>
            <a:srgbClr val="27E0C4"/>
          </a:solidFill>
          <a:ln/>
        </p:spPr>
      </p:sp>
      <p:pic>
        <p:nvPicPr>
          <p:cNvPr id="6" name="Image 0" descr="preencoded.png"/>
          <p:cNvPicPr>
            <a:picLocks noChangeAspect="1"/>
          </p:cNvPicPr>
          <p:nvPr/>
        </p:nvPicPr>
        <p:blipFill>
          <a:blip r:embed="rId3"/>
          <a:stretch>
            <a:fillRect/>
          </a:stretch>
        </p:blipFill>
        <p:spPr>
          <a:xfrm>
            <a:off x="934060" y="2168500"/>
            <a:ext cx="372161" cy="372161"/>
          </a:xfrm>
          <a:prstGeom prst="rect">
            <a:avLst/>
          </a:prstGeom>
        </p:spPr>
      </p:pic>
      <p:sp>
        <p:nvSpPr>
          <p:cNvPr id="7" name="Text 4"/>
          <p:cNvSpPr txBox="1"/>
          <p:nvPr/>
        </p:nvSpPr>
        <p:spPr>
          <a:xfrm>
            <a:off x="868680" y="2743200"/>
            <a:ext cx="3108960" cy="41148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Checkpoint frequently</a:t>
            </a:r>
            <a:endParaRPr lang="en-US" sz="1350" dirty="0"/>
          </a:p>
        </p:txBody>
      </p:sp>
      <p:sp>
        <p:nvSpPr>
          <p:cNvPr id="8" name="Text 5"/>
          <p:cNvSpPr txBox="1"/>
          <p:nvPr/>
        </p:nvSpPr>
        <p:spPr>
          <a:xfrm>
            <a:off x="868680" y="3136392"/>
            <a:ext cx="3108960" cy="822960"/>
          </a:xfrm>
          <a:prstGeom prst="rect">
            <a:avLst/>
          </a:prstGeom>
          <a:noFill/>
          <a:ln/>
        </p:spPr>
        <p:txBody>
          <a:bodyPr wrap="square" rtlCol="0" anchor="t"/>
          <a:lstStyle/>
          <a:p>
            <a:pPr marL="0" indent="0">
              <a:buNone/>
            </a:pPr>
            <a:r>
              <a:rPr lang="en-US" sz="1100" dirty="0">
                <a:solidFill>
                  <a:srgbClr val="AAB9CE"/>
                </a:solidFill>
                <a:latin typeface="Calibri" pitchFamily="34" charset="0"/>
                <a:ea typeface="Calibri" pitchFamily="34" charset="-122"/>
                <a:cs typeface="Calibri" pitchFamily="34" charset="-120"/>
              </a:rPr>
              <a:t>Persist progress to durable storage so work resumes without starting over.</a:t>
            </a:r>
            <a:endParaRPr lang="en-US" sz="1100" dirty="0"/>
          </a:p>
        </p:txBody>
      </p:sp>
      <p:sp>
        <p:nvSpPr>
          <p:cNvPr id="9" name="Shape 6"/>
          <p:cNvSpPr/>
          <p:nvPr/>
        </p:nvSpPr>
        <p:spPr>
          <a:xfrm>
            <a:off x="4434840" y="1874520"/>
            <a:ext cx="3566160" cy="2148840"/>
          </a:xfrm>
          <a:prstGeom prst="roundRect">
            <a:avLst>
              <a:gd name="adj" fmla="val 3404"/>
            </a:avLst>
          </a:prstGeom>
          <a:solidFill>
            <a:srgbClr val="132A4E"/>
          </a:solidFill>
          <a:ln/>
        </p:spPr>
      </p:sp>
      <p:sp>
        <p:nvSpPr>
          <p:cNvPr id="10" name="Shape 7"/>
          <p:cNvSpPr/>
          <p:nvPr/>
        </p:nvSpPr>
        <p:spPr>
          <a:xfrm>
            <a:off x="4663440" y="2103120"/>
            <a:ext cx="502920" cy="502920"/>
          </a:xfrm>
          <a:prstGeom prst="ellipse">
            <a:avLst/>
          </a:prstGeom>
          <a:solidFill>
            <a:srgbClr val="27E0C4"/>
          </a:solidFill>
          <a:ln/>
        </p:spPr>
      </p:sp>
      <p:pic>
        <p:nvPicPr>
          <p:cNvPr id="11" name="Image 1" descr="preencoded.png"/>
          <p:cNvPicPr>
            <a:picLocks noChangeAspect="1"/>
          </p:cNvPicPr>
          <p:nvPr/>
        </p:nvPicPr>
        <p:blipFill>
          <a:blip r:embed="rId4"/>
          <a:stretch>
            <a:fillRect/>
          </a:stretch>
        </p:blipFill>
        <p:spPr>
          <a:xfrm>
            <a:off x="4728820" y="2168500"/>
            <a:ext cx="372161" cy="372161"/>
          </a:xfrm>
          <a:prstGeom prst="rect">
            <a:avLst/>
          </a:prstGeom>
        </p:spPr>
      </p:pic>
      <p:sp>
        <p:nvSpPr>
          <p:cNvPr id="12" name="Text 8"/>
          <p:cNvSpPr txBox="1"/>
          <p:nvPr/>
        </p:nvSpPr>
        <p:spPr>
          <a:xfrm>
            <a:off x="4663440" y="2743200"/>
            <a:ext cx="3108960" cy="41148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Automate retry &amp; re-deploy</a:t>
            </a:r>
            <a:endParaRPr lang="en-US" sz="1350" dirty="0"/>
          </a:p>
        </p:txBody>
      </p:sp>
      <p:sp>
        <p:nvSpPr>
          <p:cNvPr id="13" name="Text 9"/>
          <p:cNvSpPr txBox="1"/>
          <p:nvPr/>
        </p:nvSpPr>
        <p:spPr>
          <a:xfrm>
            <a:off x="4663440" y="3136392"/>
            <a:ext cx="3108960" cy="822960"/>
          </a:xfrm>
          <a:prstGeom prst="rect">
            <a:avLst/>
          </a:prstGeom>
          <a:noFill/>
          <a:ln/>
        </p:spPr>
        <p:txBody>
          <a:bodyPr wrap="square" rtlCol="0" anchor="t"/>
          <a:lstStyle/>
          <a:p>
            <a:pPr marL="0" indent="0">
              <a:buNone/>
            </a:pPr>
            <a:r>
              <a:rPr lang="en-US" sz="1100" dirty="0">
                <a:solidFill>
                  <a:srgbClr val="AAB9CE"/>
                </a:solidFill>
                <a:latin typeface="Calibri" pitchFamily="34" charset="0"/>
                <a:ea typeface="Calibri" pitchFamily="34" charset="-122"/>
                <a:cs typeface="Calibri" pitchFamily="34" charset="-120"/>
              </a:rPr>
              <a:t>Use scale sets or orchestrators (AKS, Batch) to relaunch evicted work automatically.</a:t>
            </a:r>
            <a:endParaRPr lang="en-US" sz="1100" dirty="0"/>
          </a:p>
        </p:txBody>
      </p:sp>
      <p:sp>
        <p:nvSpPr>
          <p:cNvPr id="14" name="Shape 10"/>
          <p:cNvSpPr/>
          <p:nvPr/>
        </p:nvSpPr>
        <p:spPr>
          <a:xfrm>
            <a:off x="8229600" y="1874520"/>
            <a:ext cx="3566160" cy="2148840"/>
          </a:xfrm>
          <a:prstGeom prst="roundRect">
            <a:avLst>
              <a:gd name="adj" fmla="val 3404"/>
            </a:avLst>
          </a:prstGeom>
          <a:solidFill>
            <a:srgbClr val="132A4E"/>
          </a:solidFill>
          <a:ln/>
        </p:spPr>
      </p:sp>
      <p:sp>
        <p:nvSpPr>
          <p:cNvPr id="15" name="Shape 11"/>
          <p:cNvSpPr/>
          <p:nvPr/>
        </p:nvSpPr>
        <p:spPr>
          <a:xfrm>
            <a:off x="8458200" y="2103120"/>
            <a:ext cx="502920" cy="502920"/>
          </a:xfrm>
          <a:prstGeom prst="ellipse">
            <a:avLst/>
          </a:prstGeom>
          <a:solidFill>
            <a:srgbClr val="27E0C4"/>
          </a:solidFill>
          <a:ln/>
        </p:spPr>
      </p:sp>
      <p:pic>
        <p:nvPicPr>
          <p:cNvPr id="16" name="Image 2" descr="preencoded.png"/>
          <p:cNvPicPr>
            <a:picLocks noChangeAspect="1"/>
          </p:cNvPicPr>
          <p:nvPr/>
        </p:nvPicPr>
        <p:blipFill>
          <a:blip r:embed="rId5"/>
          <a:stretch>
            <a:fillRect/>
          </a:stretch>
        </p:blipFill>
        <p:spPr>
          <a:xfrm>
            <a:off x="8523580" y="2168500"/>
            <a:ext cx="372161" cy="372161"/>
          </a:xfrm>
          <a:prstGeom prst="rect">
            <a:avLst/>
          </a:prstGeom>
        </p:spPr>
      </p:pic>
      <p:sp>
        <p:nvSpPr>
          <p:cNvPr id="17" name="Text 12"/>
          <p:cNvSpPr txBox="1"/>
          <p:nvPr/>
        </p:nvSpPr>
        <p:spPr>
          <a:xfrm>
            <a:off x="8458200" y="2743200"/>
            <a:ext cx="3108960" cy="41148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Handle the eviction notice</a:t>
            </a:r>
            <a:endParaRPr lang="en-US" sz="1350" dirty="0"/>
          </a:p>
        </p:txBody>
      </p:sp>
      <p:sp>
        <p:nvSpPr>
          <p:cNvPr id="18" name="Text 13"/>
          <p:cNvSpPr txBox="1"/>
          <p:nvPr/>
        </p:nvSpPr>
        <p:spPr>
          <a:xfrm>
            <a:off x="8458200" y="3136392"/>
            <a:ext cx="3108960" cy="822960"/>
          </a:xfrm>
          <a:prstGeom prst="rect">
            <a:avLst/>
          </a:prstGeom>
          <a:noFill/>
          <a:ln/>
        </p:spPr>
        <p:txBody>
          <a:bodyPr wrap="square" rtlCol="0" anchor="t"/>
          <a:lstStyle/>
          <a:p>
            <a:pPr marL="0" indent="0">
              <a:buNone/>
            </a:pPr>
            <a:r>
              <a:rPr lang="en-US" sz="1100" dirty="0">
                <a:solidFill>
                  <a:srgbClr val="AAB9CE"/>
                </a:solidFill>
                <a:latin typeface="Calibri" pitchFamily="34" charset="0"/>
                <a:ea typeface="Calibri" pitchFamily="34" charset="-122"/>
                <a:cs typeface="Calibri" pitchFamily="34" charset="-120"/>
              </a:rPr>
              <a:t>Poll Azure Scheduled Events and gracefully drain in-flight tasks within the notice window.</a:t>
            </a:r>
            <a:endParaRPr lang="en-US" sz="1100" dirty="0"/>
          </a:p>
        </p:txBody>
      </p:sp>
      <p:sp>
        <p:nvSpPr>
          <p:cNvPr id="19" name="Shape 14"/>
          <p:cNvSpPr/>
          <p:nvPr/>
        </p:nvSpPr>
        <p:spPr>
          <a:xfrm>
            <a:off x="640080" y="4251960"/>
            <a:ext cx="3566160" cy="2148840"/>
          </a:xfrm>
          <a:prstGeom prst="roundRect">
            <a:avLst>
              <a:gd name="adj" fmla="val 3404"/>
            </a:avLst>
          </a:prstGeom>
          <a:solidFill>
            <a:srgbClr val="132A4E"/>
          </a:solidFill>
          <a:ln/>
        </p:spPr>
      </p:sp>
      <p:sp>
        <p:nvSpPr>
          <p:cNvPr id="20" name="Shape 15"/>
          <p:cNvSpPr/>
          <p:nvPr/>
        </p:nvSpPr>
        <p:spPr>
          <a:xfrm>
            <a:off x="868680" y="4480560"/>
            <a:ext cx="502920" cy="502920"/>
          </a:xfrm>
          <a:prstGeom prst="ellipse">
            <a:avLst/>
          </a:prstGeom>
          <a:solidFill>
            <a:srgbClr val="27E0C4"/>
          </a:solidFill>
          <a:ln/>
        </p:spPr>
      </p:sp>
      <p:pic>
        <p:nvPicPr>
          <p:cNvPr id="21" name="Image 3" descr="preencoded.png"/>
          <p:cNvPicPr>
            <a:picLocks noChangeAspect="1"/>
          </p:cNvPicPr>
          <p:nvPr/>
        </p:nvPicPr>
        <p:blipFill>
          <a:blip r:embed="rId6"/>
          <a:stretch>
            <a:fillRect/>
          </a:stretch>
        </p:blipFill>
        <p:spPr>
          <a:xfrm>
            <a:off x="934060" y="4545940"/>
            <a:ext cx="372161" cy="372161"/>
          </a:xfrm>
          <a:prstGeom prst="rect">
            <a:avLst/>
          </a:prstGeom>
        </p:spPr>
      </p:pic>
      <p:sp>
        <p:nvSpPr>
          <p:cNvPr id="22" name="Text 16"/>
          <p:cNvSpPr txBox="1"/>
          <p:nvPr/>
        </p:nvSpPr>
        <p:spPr>
          <a:xfrm>
            <a:off x="868680" y="5120640"/>
            <a:ext cx="3108960" cy="41148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Diversify VM sizes &amp; regions</a:t>
            </a:r>
            <a:endParaRPr lang="en-US" sz="1350" dirty="0"/>
          </a:p>
        </p:txBody>
      </p:sp>
      <p:sp>
        <p:nvSpPr>
          <p:cNvPr id="23" name="Text 17"/>
          <p:cNvSpPr txBox="1"/>
          <p:nvPr/>
        </p:nvSpPr>
        <p:spPr>
          <a:xfrm>
            <a:off x="868680" y="5513832"/>
            <a:ext cx="3108960" cy="822960"/>
          </a:xfrm>
          <a:prstGeom prst="rect">
            <a:avLst/>
          </a:prstGeom>
          <a:noFill/>
          <a:ln/>
        </p:spPr>
        <p:txBody>
          <a:bodyPr wrap="square" rtlCol="0" anchor="t"/>
          <a:lstStyle/>
          <a:p>
            <a:pPr marL="0" indent="0">
              <a:buNone/>
            </a:pPr>
            <a:r>
              <a:rPr lang="en-US" sz="1100" dirty="0">
                <a:solidFill>
                  <a:srgbClr val="AAB9CE"/>
                </a:solidFill>
                <a:latin typeface="Calibri" pitchFamily="34" charset="0"/>
                <a:ea typeface="Calibri" pitchFamily="34" charset="-122"/>
                <a:cs typeface="Calibri" pitchFamily="34" charset="-120"/>
              </a:rPr>
              <a:t>Spread across SKUs and availability zones to reduce simultaneous eviction risk.</a:t>
            </a:r>
            <a:endParaRPr lang="en-US" sz="1100" dirty="0"/>
          </a:p>
        </p:txBody>
      </p:sp>
      <p:sp>
        <p:nvSpPr>
          <p:cNvPr id="24" name="Shape 18"/>
          <p:cNvSpPr/>
          <p:nvPr/>
        </p:nvSpPr>
        <p:spPr>
          <a:xfrm>
            <a:off x="4434840" y="4251960"/>
            <a:ext cx="3566160" cy="2148840"/>
          </a:xfrm>
          <a:prstGeom prst="roundRect">
            <a:avLst>
              <a:gd name="adj" fmla="val 3404"/>
            </a:avLst>
          </a:prstGeom>
          <a:solidFill>
            <a:srgbClr val="132A4E"/>
          </a:solidFill>
          <a:ln/>
        </p:spPr>
      </p:sp>
      <p:sp>
        <p:nvSpPr>
          <p:cNvPr id="25" name="Shape 19"/>
          <p:cNvSpPr/>
          <p:nvPr/>
        </p:nvSpPr>
        <p:spPr>
          <a:xfrm>
            <a:off x="4663440" y="4480560"/>
            <a:ext cx="502920" cy="502920"/>
          </a:xfrm>
          <a:prstGeom prst="ellipse">
            <a:avLst/>
          </a:prstGeom>
          <a:solidFill>
            <a:srgbClr val="27E0C4"/>
          </a:solidFill>
          <a:ln/>
        </p:spPr>
      </p:sp>
      <p:pic>
        <p:nvPicPr>
          <p:cNvPr id="26" name="Image 4" descr="preencoded.png"/>
          <p:cNvPicPr>
            <a:picLocks noChangeAspect="1"/>
          </p:cNvPicPr>
          <p:nvPr/>
        </p:nvPicPr>
        <p:blipFill>
          <a:blip r:embed="rId7"/>
          <a:stretch>
            <a:fillRect/>
          </a:stretch>
        </p:blipFill>
        <p:spPr>
          <a:xfrm>
            <a:off x="4728820" y="4545940"/>
            <a:ext cx="372161" cy="372161"/>
          </a:xfrm>
          <a:prstGeom prst="rect">
            <a:avLst/>
          </a:prstGeom>
        </p:spPr>
      </p:pic>
      <p:sp>
        <p:nvSpPr>
          <p:cNvPr id="27" name="Text 20"/>
          <p:cNvSpPr txBox="1"/>
          <p:nvPr/>
        </p:nvSpPr>
        <p:spPr>
          <a:xfrm>
            <a:off x="4663440" y="5120640"/>
            <a:ext cx="3108960" cy="41148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Set a sensible max price</a:t>
            </a:r>
            <a:endParaRPr lang="en-US" sz="1350" dirty="0"/>
          </a:p>
        </p:txBody>
      </p:sp>
      <p:sp>
        <p:nvSpPr>
          <p:cNvPr id="28" name="Text 21"/>
          <p:cNvSpPr txBox="1"/>
          <p:nvPr/>
        </p:nvSpPr>
        <p:spPr>
          <a:xfrm>
            <a:off x="4663440" y="5513832"/>
            <a:ext cx="3108960" cy="822960"/>
          </a:xfrm>
          <a:prstGeom prst="rect">
            <a:avLst/>
          </a:prstGeom>
          <a:noFill/>
          <a:ln/>
        </p:spPr>
        <p:txBody>
          <a:bodyPr wrap="square" rtlCol="0" anchor="t"/>
          <a:lstStyle/>
          <a:p>
            <a:pPr marL="0" indent="0">
              <a:buNone/>
            </a:pPr>
            <a:r>
              <a:rPr lang="en-US" sz="1100" dirty="0">
                <a:solidFill>
                  <a:srgbClr val="AAB9CE"/>
                </a:solidFill>
                <a:latin typeface="Calibri" pitchFamily="34" charset="0"/>
                <a:ea typeface="Calibri" pitchFamily="34" charset="-122"/>
                <a:cs typeface="Calibri" pitchFamily="34" charset="-120"/>
              </a:rPr>
              <a:t>Cap spend while avoiding evictions triggered purely by price, not capacity.</a:t>
            </a:r>
            <a:endParaRPr lang="en-US" sz="1100" dirty="0"/>
          </a:p>
        </p:txBody>
      </p:sp>
      <p:sp>
        <p:nvSpPr>
          <p:cNvPr id="29" name="Shape 22"/>
          <p:cNvSpPr/>
          <p:nvPr/>
        </p:nvSpPr>
        <p:spPr>
          <a:xfrm>
            <a:off x="8229600" y="4251960"/>
            <a:ext cx="3566160" cy="2148840"/>
          </a:xfrm>
          <a:prstGeom prst="roundRect">
            <a:avLst>
              <a:gd name="adj" fmla="val 3404"/>
            </a:avLst>
          </a:prstGeom>
          <a:solidFill>
            <a:srgbClr val="132A4E"/>
          </a:solidFill>
          <a:ln/>
        </p:spPr>
      </p:sp>
      <p:sp>
        <p:nvSpPr>
          <p:cNvPr id="30" name="Shape 23"/>
          <p:cNvSpPr/>
          <p:nvPr/>
        </p:nvSpPr>
        <p:spPr>
          <a:xfrm>
            <a:off x="8458200" y="4480560"/>
            <a:ext cx="502920" cy="502920"/>
          </a:xfrm>
          <a:prstGeom prst="ellipse">
            <a:avLst/>
          </a:prstGeom>
          <a:solidFill>
            <a:srgbClr val="27E0C4"/>
          </a:solidFill>
          <a:ln/>
        </p:spPr>
      </p:sp>
      <p:pic>
        <p:nvPicPr>
          <p:cNvPr id="31" name="Image 5" descr="preencoded.png"/>
          <p:cNvPicPr>
            <a:picLocks noChangeAspect="1"/>
          </p:cNvPicPr>
          <p:nvPr/>
        </p:nvPicPr>
        <p:blipFill>
          <a:blip r:embed="rId8"/>
          <a:stretch>
            <a:fillRect/>
          </a:stretch>
        </p:blipFill>
        <p:spPr>
          <a:xfrm>
            <a:off x="8523580" y="4545940"/>
            <a:ext cx="372161" cy="372161"/>
          </a:xfrm>
          <a:prstGeom prst="rect">
            <a:avLst/>
          </a:prstGeom>
        </p:spPr>
      </p:pic>
      <p:sp>
        <p:nvSpPr>
          <p:cNvPr id="32" name="Text 24"/>
          <p:cNvSpPr txBox="1"/>
          <p:nvPr/>
        </p:nvSpPr>
        <p:spPr>
          <a:xfrm>
            <a:off x="8458200" y="5120640"/>
            <a:ext cx="3108960" cy="41148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Mix with reserved capacity</a:t>
            </a:r>
            <a:endParaRPr lang="en-US" sz="1350" dirty="0"/>
          </a:p>
        </p:txBody>
      </p:sp>
      <p:sp>
        <p:nvSpPr>
          <p:cNvPr id="33" name="Text 25"/>
          <p:cNvSpPr txBox="1"/>
          <p:nvPr/>
        </p:nvSpPr>
        <p:spPr>
          <a:xfrm>
            <a:off x="8458200" y="5513832"/>
            <a:ext cx="3108960" cy="822960"/>
          </a:xfrm>
          <a:prstGeom prst="rect">
            <a:avLst/>
          </a:prstGeom>
          <a:noFill/>
          <a:ln/>
        </p:spPr>
        <p:txBody>
          <a:bodyPr wrap="square" rtlCol="0" anchor="t"/>
          <a:lstStyle/>
          <a:p>
            <a:pPr marL="0" indent="0">
              <a:buNone/>
            </a:pPr>
            <a:r>
              <a:rPr lang="en-US" sz="1100" dirty="0">
                <a:solidFill>
                  <a:srgbClr val="AAB9CE"/>
                </a:solidFill>
                <a:latin typeface="Calibri" pitchFamily="34" charset="0"/>
                <a:ea typeface="Calibri" pitchFamily="34" charset="-122"/>
                <a:cs typeface="Calibri" pitchFamily="34" charset="-120"/>
              </a:rPr>
              <a:t>Pair Spot with reserved/on-demand VMs for baseline availability plus burst savings.</a:t>
            </a:r>
            <a:endParaRPr lang="en-US" sz="1100" dirty="0"/>
          </a:p>
        </p:txBody>
      </p:sp>
      <p:sp>
        <p:nvSpPr>
          <p:cNvPr id="34" name="Text 26"/>
          <p:cNvSpPr/>
          <p:nvPr/>
        </p:nvSpPr>
        <p:spPr>
          <a:xfrm>
            <a:off x="457200" y="6473952"/>
            <a:ext cx="5486400" cy="274320"/>
          </a:xfrm>
          <a:prstGeom prst="rect">
            <a:avLst/>
          </a:prstGeom>
          <a:noFill/>
          <a:ln/>
        </p:spPr>
        <p:txBody>
          <a:bodyPr wrap="square" rtlCol="0" anchor="ctr"/>
          <a:lstStyle/>
          <a:p>
            <a:pPr marL="0" indent="0" algn="l">
              <a:buNone/>
            </a:pPr>
            <a:r>
              <a:rPr lang="en-US" sz="1000" dirty="0">
                <a:solidFill>
                  <a:srgbClr val="8FA3BE"/>
                </a:solidFill>
                <a:latin typeface="Calibri" pitchFamily="34" charset="0"/>
                <a:ea typeface="Calibri" pitchFamily="34" charset="-122"/>
                <a:cs typeface="Calibri" pitchFamily="34" charset="-120"/>
              </a:rPr>
              <a:t>Azure Spot Virtual Machines</a:t>
            </a:r>
            <a:endParaRPr lang="en-US" sz="1000" dirty="0"/>
          </a:p>
        </p:txBody>
      </p:sp>
      <p:sp>
        <p:nvSpPr>
          <p:cNvPr id="35" name="Text 27"/>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8FA3BE"/>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C"/>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9144000" cy="640080"/>
          </a:xfrm>
          <a:prstGeom prst="rect">
            <a:avLst/>
          </a:prstGeom>
          <a:noFill/>
          <a:ln/>
        </p:spPr>
        <p:txBody>
          <a:bodyPr wrap="square" rtlCol="0" anchor="ctr"/>
          <a:lstStyle/>
          <a:p>
            <a:pPr marL="0" indent="0">
              <a:buNone/>
            </a:pPr>
            <a:r>
              <a:rPr lang="en-US" sz="3200" b="1" dirty="0">
                <a:solidFill>
                  <a:srgbClr val="15243A"/>
                </a:solidFill>
                <a:latin typeface="Cambria" pitchFamily="34" charset="0"/>
                <a:ea typeface="Cambria" pitchFamily="34" charset="-122"/>
                <a:cs typeface="Cambria" pitchFamily="34" charset="-120"/>
              </a:rPr>
              <a:t>Trade-offs to Plan Around</a:t>
            </a:r>
            <a:endParaRPr lang="en-US" sz="3200" dirty="0"/>
          </a:p>
        </p:txBody>
      </p:sp>
      <p:sp>
        <p:nvSpPr>
          <p:cNvPr id="3" name="Shape 1"/>
          <p:cNvSpPr/>
          <p:nvPr/>
        </p:nvSpPr>
        <p:spPr>
          <a:xfrm>
            <a:off x="640080" y="1417320"/>
            <a:ext cx="5257800" cy="4709160"/>
          </a:xfrm>
          <a:prstGeom prst="roundRect">
            <a:avLst>
              <a:gd name="adj" fmla="val 1942"/>
            </a:avLst>
          </a:prstGeom>
          <a:solidFill>
            <a:srgbClr val="FFFFFF"/>
          </a:solidFill>
          <a:ln/>
          <a:effectLst>
            <a:outerShdw blurRad="63500" dist="25400" dir="5400000" algn="bl" rotWithShape="0">
              <a:srgbClr val="1B2A41">
                <a:alpha val="10000"/>
              </a:srgbClr>
            </a:outerShdw>
          </a:effectLst>
        </p:spPr>
      </p:sp>
      <p:sp>
        <p:nvSpPr>
          <p:cNvPr id="4" name="Shape 2"/>
          <p:cNvSpPr/>
          <p:nvPr/>
        </p:nvSpPr>
        <p:spPr>
          <a:xfrm>
            <a:off x="914400" y="1737360"/>
            <a:ext cx="594360" cy="594360"/>
          </a:xfrm>
          <a:prstGeom prst="ellipse">
            <a:avLst/>
          </a:prstGeom>
          <a:solidFill>
            <a:srgbClr val="C0392B"/>
          </a:solidFill>
          <a:ln/>
        </p:spPr>
      </p:sp>
      <p:pic>
        <p:nvPicPr>
          <p:cNvPr id="5" name="Image 0" descr="preencoded.png"/>
          <p:cNvPicPr>
            <a:picLocks noChangeAspect="1"/>
          </p:cNvPicPr>
          <p:nvPr/>
        </p:nvPicPr>
        <p:blipFill>
          <a:blip r:embed="rId3"/>
          <a:stretch>
            <a:fillRect/>
          </a:stretch>
        </p:blipFill>
        <p:spPr>
          <a:xfrm>
            <a:off x="991667" y="1814627"/>
            <a:ext cx="439826" cy="439826"/>
          </a:xfrm>
          <a:prstGeom prst="rect">
            <a:avLst/>
          </a:prstGeom>
        </p:spPr>
      </p:pic>
      <p:sp>
        <p:nvSpPr>
          <p:cNvPr id="6" name="Text 3"/>
          <p:cNvSpPr txBox="1"/>
          <p:nvPr/>
        </p:nvSpPr>
        <p:spPr>
          <a:xfrm>
            <a:off x="1645920" y="1892808"/>
            <a:ext cx="4023360" cy="365760"/>
          </a:xfrm>
          <a:prstGeom prst="rect">
            <a:avLst/>
          </a:prstGeom>
          <a:noFill/>
          <a:ln/>
        </p:spPr>
        <p:txBody>
          <a:bodyPr wrap="square" rtlCol="0" anchor="ctr"/>
          <a:lstStyle/>
          <a:p>
            <a:pPr marL="0" indent="0">
              <a:buNone/>
            </a:pPr>
            <a:r>
              <a:rPr lang="en-US" sz="1700" b="1" dirty="0">
                <a:solidFill>
                  <a:srgbClr val="15243A"/>
                </a:solidFill>
                <a:latin typeface="Calibri" pitchFamily="34" charset="0"/>
                <a:ea typeface="Calibri" pitchFamily="34" charset="-122"/>
                <a:cs typeface="Calibri" pitchFamily="34" charset="-120"/>
              </a:rPr>
              <a:t>Availability constraints</a:t>
            </a:r>
            <a:endParaRPr lang="en-US" sz="1700" dirty="0"/>
          </a:p>
        </p:txBody>
      </p:sp>
      <p:sp>
        <p:nvSpPr>
          <p:cNvPr id="7" name="Shape 4"/>
          <p:cNvSpPr/>
          <p:nvPr/>
        </p:nvSpPr>
        <p:spPr>
          <a:xfrm>
            <a:off x="914400" y="2871216"/>
            <a:ext cx="109728" cy="109728"/>
          </a:xfrm>
          <a:prstGeom prst="ellipse">
            <a:avLst/>
          </a:prstGeom>
          <a:solidFill>
            <a:srgbClr val="C0392B"/>
          </a:solidFill>
          <a:ln/>
        </p:spPr>
      </p:sp>
      <p:sp>
        <p:nvSpPr>
          <p:cNvPr id="8" name="Text 5"/>
          <p:cNvSpPr txBox="1"/>
          <p:nvPr/>
        </p:nvSpPr>
        <p:spPr>
          <a:xfrm>
            <a:off x="1143000" y="2697480"/>
            <a:ext cx="4480560" cy="777240"/>
          </a:xfrm>
          <a:prstGeom prst="rect">
            <a:avLst/>
          </a:prstGeom>
          <a:noFill/>
          <a:ln/>
        </p:spPr>
        <p:txBody>
          <a:bodyPr wrap="square" rtlCol="0" anchor="t"/>
          <a:lstStyle/>
          <a:p>
            <a:pPr marL="0" indent="0">
              <a:buNone/>
            </a:pPr>
            <a:r>
              <a:rPr lang="en-US" sz="1350" dirty="0">
                <a:solidFill>
                  <a:srgbClr val="15243A"/>
                </a:solidFill>
                <a:latin typeface="Calibri" pitchFamily="34" charset="0"/>
                <a:ea typeface="Calibri" pitchFamily="34" charset="-122"/>
                <a:cs typeface="Calibri" pitchFamily="34" charset="-120"/>
              </a:rPr>
              <a:t>No availability SLA — eviction can happen at any time</a:t>
            </a:r>
            <a:endParaRPr lang="en-US" sz="1350" dirty="0"/>
          </a:p>
        </p:txBody>
      </p:sp>
      <p:sp>
        <p:nvSpPr>
          <p:cNvPr id="9" name="Shape 6"/>
          <p:cNvSpPr/>
          <p:nvPr/>
        </p:nvSpPr>
        <p:spPr>
          <a:xfrm>
            <a:off x="914400" y="4059936"/>
            <a:ext cx="109728" cy="109728"/>
          </a:xfrm>
          <a:prstGeom prst="ellipse">
            <a:avLst/>
          </a:prstGeom>
          <a:solidFill>
            <a:srgbClr val="C0392B"/>
          </a:solidFill>
          <a:ln/>
        </p:spPr>
      </p:sp>
      <p:sp>
        <p:nvSpPr>
          <p:cNvPr id="10" name="Text 7"/>
          <p:cNvSpPr txBox="1"/>
          <p:nvPr/>
        </p:nvSpPr>
        <p:spPr>
          <a:xfrm>
            <a:off x="1143000" y="3886200"/>
            <a:ext cx="4480560" cy="777240"/>
          </a:xfrm>
          <a:prstGeom prst="rect">
            <a:avLst/>
          </a:prstGeom>
          <a:noFill/>
          <a:ln/>
        </p:spPr>
        <p:txBody>
          <a:bodyPr wrap="square" rtlCol="0" anchor="t"/>
          <a:lstStyle/>
          <a:p>
            <a:pPr marL="0" indent="0">
              <a:buNone/>
            </a:pPr>
            <a:r>
              <a:rPr lang="en-US" sz="1350" dirty="0">
                <a:solidFill>
                  <a:srgbClr val="15243A"/>
                </a:solidFill>
                <a:latin typeface="Calibri" pitchFamily="34" charset="0"/>
                <a:ea typeface="Calibri" pitchFamily="34" charset="-122"/>
                <a:cs typeface="Calibri" pitchFamily="34" charset="-120"/>
              </a:rPr>
              <a:t>Not suited to stateful, always-on, or latency-critical services</a:t>
            </a:r>
            <a:endParaRPr lang="en-US" sz="1350" dirty="0"/>
          </a:p>
        </p:txBody>
      </p:sp>
      <p:sp>
        <p:nvSpPr>
          <p:cNvPr id="11" name="Shape 8"/>
          <p:cNvSpPr/>
          <p:nvPr/>
        </p:nvSpPr>
        <p:spPr>
          <a:xfrm>
            <a:off x="914400" y="5248656"/>
            <a:ext cx="109728" cy="109728"/>
          </a:xfrm>
          <a:prstGeom prst="ellipse">
            <a:avLst/>
          </a:prstGeom>
          <a:solidFill>
            <a:srgbClr val="C0392B"/>
          </a:solidFill>
          <a:ln/>
        </p:spPr>
      </p:sp>
      <p:sp>
        <p:nvSpPr>
          <p:cNvPr id="12" name="Text 9"/>
          <p:cNvSpPr txBox="1"/>
          <p:nvPr/>
        </p:nvSpPr>
        <p:spPr>
          <a:xfrm>
            <a:off x="1143000" y="5074920"/>
            <a:ext cx="4480560" cy="777240"/>
          </a:xfrm>
          <a:prstGeom prst="rect">
            <a:avLst/>
          </a:prstGeom>
          <a:noFill/>
          <a:ln/>
        </p:spPr>
        <p:txBody>
          <a:bodyPr wrap="square" rtlCol="0" anchor="t"/>
          <a:lstStyle/>
          <a:p>
            <a:pPr marL="0" indent="0">
              <a:buNone/>
            </a:pPr>
            <a:r>
              <a:rPr lang="en-US" sz="1350" dirty="0">
                <a:solidFill>
                  <a:srgbClr val="15243A"/>
                </a:solidFill>
                <a:latin typeface="Calibri" pitchFamily="34" charset="0"/>
                <a:ea typeface="Calibri" pitchFamily="34" charset="-122"/>
                <a:cs typeface="Calibri" pitchFamily="34" charset="-120"/>
              </a:rPr>
              <a:t>Spot capacity and pricing vary by region, zone, and VM size</a:t>
            </a:r>
            <a:endParaRPr lang="en-US" sz="1350" dirty="0"/>
          </a:p>
        </p:txBody>
      </p:sp>
      <p:sp>
        <p:nvSpPr>
          <p:cNvPr id="13" name="Shape 10"/>
          <p:cNvSpPr/>
          <p:nvPr/>
        </p:nvSpPr>
        <p:spPr>
          <a:xfrm>
            <a:off x="6263640" y="1417320"/>
            <a:ext cx="5257800" cy="4709160"/>
          </a:xfrm>
          <a:prstGeom prst="roundRect">
            <a:avLst>
              <a:gd name="adj" fmla="val 1942"/>
            </a:avLst>
          </a:prstGeom>
          <a:solidFill>
            <a:srgbClr val="FFFFFF"/>
          </a:solidFill>
          <a:ln/>
          <a:effectLst>
            <a:outerShdw blurRad="63500" dist="25400" dir="5400000" algn="bl" rotWithShape="0">
              <a:srgbClr val="1B2A41">
                <a:alpha val="10000"/>
              </a:srgbClr>
            </a:outerShdw>
          </a:effectLst>
        </p:spPr>
      </p:sp>
      <p:sp>
        <p:nvSpPr>
          <p:cNvPr id="14" name="Shape 11"/>
          <p:cNvSpPr/>
          <p:nvPr/>
        </p:nvSpPr>
        <p:spPr>
          <a:xfrm>
            <a:off x="6537960" y="1737360"/>
            <a:ext cx="594360" cy="594360"/>
          </a:xfrm>
          <a:prstGeom prst="ellipse">
            <a:avLst/>
          </a:prstGeom>
          <a:solidFill>
            <a:srgbClr val="0078D4"/>
          </a:solidFill>
          <a:ln/>
        </p:spPr>
      </p:sp>
      <p:pic>
        <p:nvPicPr>
          <p:cNvPr id="15" name="Image 1" descr="preencoded.png"/>
          <p:cNvPicPr>
            <a:picLocks noChangeAspect="1"/>
          </p:cNvPicPr>
          <p:nvPr/>
        </p:nvPicPr>
        <p:blipFill>
          <a:blip r:embed="rId4"/>
          <a:stretch>
            <a:fillRect/>
          </a:stretch>
        </p:blipFill>
        <p:spPr>
          <a:xfrm>
            <a:off x="6615227" y="1814627"/>
            <a:ext cx="439826" cy="439826"/>
          </a:xfrm>
          <a:prstGeom prst="rect">
            <a:avLst/>
          </a:prstGeom>
        </p:spPr>
      </p:pic>
      <p:sp>
        <p:nvSpPr>
          <p:cNvPr id="16" name="Text 12"/>
          <p:cNvSpPr txBox="1"/>
          <p:nvPr/>
        </p:nvSpPr>
        <p:spPr>
          <a:xfrm>
            <a:off x="7269480" y="1892808"/>
            <a:ext cx="4023360" cy="365760"/>
          </a:xfrm>
          <a:prstGeom prst="rect">
            <a:avLst/>
          </a:prstGeom>
          <a:noFill/>
          <a:ln/>
        </p:spPr>
        <p:txBody>
          <a:bodyPr wrap="square" rtlCol="0" anchor="ctr"/>
          <a:lstStyle/>
          <a:p>
            <a:pPr marL="0" indent="0">
              <a:buNone/>
            </a:pPr>
            <a:r>
              <a:rPr lang="en-US" sz="1700" b="1" dirty="0">
                <a:solidFill>
                  <a:srgbClr val="15243A"/>
                </a:solidFill>
                <a:latin typeface="Calibri" pitchFamily="34" charset="0"/>
                <a:ea typeface="Calibri" pitchFamily="34" charset="-122"/>
                <a:cs typeface="Calibri" pitchFamily="34" charset="-120"/>
              </a:rPr>
              <a:t>Operational constraints</a:t>
            </a:r>
            <a:endParaRPr lang="en-US" sz="1700" dirty="0"/>
          </a:p>
        </p:txBody>
      </p:sp>
      <p:sp>
        <p:nvSpPr>
          <p:cNvPr id="17" name="Shape 13"/>
          <p:cNvSpPr/>
          <p:nvPr/>
        </p:nvSpPr>
        <p:spPr>
          <a:xfrm>
            <a:off x="6537960" y="2871216"/>
            <a:ext cx="109728" cy="109728"/>
          </a:xfrm>
          <a:prstGeom prst="ellipse">
            <a:avLst/>
          </a:prstGeom>
          <a:solidFill>
            <a:srgbClr val="0078D4"/>
          </a:solidFill>
          <a:ln/>
        </p:spPr>
      </p:sp>
      <p:sp>
        <p:nvSpPr>
          <p:cNvPr id="18" name="Text 14"/>
          <p:cNvSpPr txBox="1"/>
          <p:nvPr/>
        </p:nvSpPr>
        <p:spPr>
          <a:xfrm>
            <a:off x="6766560" y="2697480"/>
            <a:ext cx="4572000" cy="777240"/>
          </a:xfrm>
          <a:prstGeom prst="rect">
            <a:avLst/>
          </a:prstGeom>
          <a:noFill/>
          <a:ln/>
        </p:spPr>
        <p:txBody>
          <a:bodyPr wrap="square" rtlCol="0" anchor="t"/>
          <a:lstStyle/>
          <a:p>
            <a:pPr marL="0" indent="0">
              <a:buNone/>
            </a:pPr>
            <a:r>
              <a:rPr lang="en-US" sz="1350" dirty="0">
                <a:solidFill>
                  <a:srgbClr val="15243A"/>
                </a:solidFill>
                <a:latin typeface="Calibri" pitchFamily="34" charset="0"/>
                <a:ea typeface="Calibri" pitchFamily="34" charset="-122"/>
                <a:cs typeface="Calibri" pitchFamily="34" charset="-120"/>
              </a:rPr>
              <a:t>Eviction notice is short (about 30 seconds) — little time to react</a:t>
            </a:r>
            <a:endParaRPr lang="en-US" sz="1350" dirty="0"/>
          </a:p>
        </p:txBody>
      </p:sp>
      <p:sp>
        <p:nvSpPr>
          <p:cNvPr id="19" name="Shape 15"/>
          <p:cNvSpPr/>
          <p:nvPr/>
        </p:nvSpPr>
        <p:spPr>
          <a:xfrm>
            <a:off x="6537960" y="4059936"/>
            <a:ext cx="109728" cy="109728"/>
          </a:xfrm>
          <a:prstGeom prst="ellipse">
            <a:avLst/>
          </a:prstGeom>
          <a:solidFill>
            <a:srgbClr val="0078D4"/>
          </a:solidFill>
          <a:ln/>
        </p:spPr>
      </p:sp>
      <p:sp>
        <p:nvSpPr>
          <p:cNvPr id="20" name="Text 16"/>
          <p:cNvSpPr txBox="1"/>
          <p:nvPr/>
        </p:nvSpPr>
        <p:spPr>
          <a:xfrm>
            <a:off x="6766560" y="3886200"/>
            <a:ext cx="4572000" cy="777240"/>
          </a:xfrm>
          <a:prstGeom prst="rect">
            <a:avLst/>
          </a:prstGeom>
          <a:noFill/>
          <a:ln/>
        </p:spPr>
        <p:txBody>
          <a:bodyPr wrap="square" rtlCol="0" anchor="t"/>
          <a:lstStyle/>
          <a:p>
            <a:pPr marL="0" indent="0">
              <a:buNone/>
            </a:pPr>
            <a:r>
              <a:rPr lang="en-US" sz="1350" dirty="0">
                <a:solidFill>
                  <a:srgbClr val="15243A"/>
                </a:solidFill>
                <a:latin typeface="Calibri" pitchFamily="34" charset="0"/>
                <a:ea typeface="Calibri" pitchFamily="34" charset="-122"/>
                <a:cs typeface="Calibri" pitchFamily="34" charset="-120"/>
              </a:rPr>
              <a:t>Some VM sizes or regions may have limited or no spot capacity</a:t>
            </a:r>
            <a:endParaRPr lang="en-US" sz="1350" dirty="0"/>
          </a:p>
        </p:txBody>
      </p:sp>
      <p:sp>
        <p:nvSpPr>
          <p:cNvPr id="21" name="Shape 17"/>
          <p:cNvSpPr/>
          <p:nvPr/>
        </p:nvSpPr>
        <p:spPr>
          <a:xfrm>
            <a:off x="6537960" y="5248656"/>
            <a:ext cx="109728" cy="109728"/>
          </a:xfrm>
          <a:prstGeom prst="ellipse">
            <a:avLst/>
          </a:prstGeom>
          <a:solidFill>
            <a:srgbClr val="0078D4"/>
          </a:solidFill>
          <a:ln/>
        </p:spPr>
      </p:sp>
      <p:sp>
        <p:nvSpPr>
          <p:cNvPr id="22" name="Text 18"/>
          <p:cNvSpPr txBox="1"/>
          <p:nvPr/>
        </p:nvSpPr>
        <p:spPr>
          <a:xfrm>
            <a:off x="6766560" y="5074920"/>
            <a:ext cx="4572000" cy="777240"/>
          </a:xfrm>
          <a:prstGeom prst="rect">
            <a:avLst/>
          </a:prstGeom>
          <a:noFill/>
          <a:ln/>
        </p:spPr>
        <p:txBody>
          <a:bodyPr wrap="square" rtlCol="0" anchor="t"/>
          <a:lstStyle/>
          <a:p>
            <a:pPr marL="0" indent="0">
              <a:buNone/>
            </a:pPr>
            <a:r>
              <a:rPr lang="en-US" sz="1350" dirty="0">
                <a:solidFill>
                  <a:srgbClr val="15243A"/>
                </a:solidFill>
                <a:latin typeface="Calibri" pitchFamily="34" charset="0"/>
                <a:ea typeface="Calibri" pitchFamily="34" charset="-122"/>
                <a:cs typeface="Calibri" pitchFamily="34" charset="-120"/>
              </a:rPr>
              <a:t>Quota and capacity are not guaranteed even within budget</a:t>
            </a:r>
            <a:endParaRPr lang="en-US" sz="1350" dirty="0"/>
          </a:p>
        </p:txBody>
      </p:sp>
      <p:sp>
        <p:nvSpPr>
          <p:cNvPr id="23" name="Text 19"/>
          <p:cNvSpPr/>
          <p:nvPr/>
        </p:nvSpPr>
        <p:spPr>
          <a:xfrm>
            <a:off x="457200" y="6473952"/>
            <a:ext cx="5486400" cy="274320"/>
          </a:xfrm>
          <a:prstGeom prst="rect">
            <a:avLst/>
          </a:prstGeom>
          <a:noFill/>
          <a:ln/>
        </p:spPr>
        <p:txBody>
          <a:bodyPr wrap="square" rtlCol="0" anchor="ctr"/>
          <a:lstStyle/>
          <a:p>
            <a:pPr marL="0" indent="0" algn="l">
              <a:buNone/>
            </a:pPr>
            <a:r>
              <a:rPr lang="en-US" sz="1000" dirty="0">
                <a:solidFill>
                  <a:srgbClr val="5B6B7F"/>
                </a:solidFill>
                <a:latin typeface="Calibri" pitchFamily="34" charset="0"/>
                <a:ea typeface="Calibri" pitchFamily="34" charset="-122"/>
                <a:cs typeface="Calibri" pitchFamily="34" charset="-120"/>
              </a:rPr>
              <a:t>Azure Spot Virtual Machines</a:t>
            </a:r>
            <a:endParaRPr lang="en-US" sz="1000" dirty="0"/>
          </a:p>
        </p:txBody>
      </p:sp>
      <p:sp>
        <p:nvSpPr>
          <p:cNvPr id="24" name="Text 20"/>
          <p:cNvSpPr/>
          <p:nvPr/>
        </p:nvSpPr>
        <p:spPr>
          <a:xfrm>
            <a:off x="11274552" y="6473952"/>
            <a:ext cx="457200" cy="274320"/>
          </a:xfrm>
          <a:prstGeom prst="rect">
            <a:avLst/>
          </a:prstGeom>
          <a:noFill/>
          <a:ln/>
        </p:spPr>
        <p:txBody>
          <a:bodyPr wrap="square"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F3B"/>
        </a:solidFill>
        <a:effectLst/>
      </p:bgPr>
    </p:bg>
    <p:spTree>
      <p:nvGrpSpPr>
        <p:cNvPr id="1" name=""/>
        <p:cNvGrpSpPr/>
        <p:nvPr/>
      </p:nvGrpSpPr>
      <p:grpSpPr>
        <a:xfrm>
          <a:off x="0" y="0"/>
          <a:ext cx="0" cy="0"/>
          <a:chOff x="0" y="0"/>
          <a:chExt cx="0" cy="0"/>
        </a:xfrm>
      </p:grpSpPr>
      <p:sp>
        <p:nvSpPr>
          <p:cNvPr id="2" name="Shape 0"/>
          <p:cNvSpPr/>
          <p:nvPr/>
        </p:nvSpPr>
        <p:spPr>
          <a:xfrm>
            <a:off x="-2011680" y="-2011680"/>
            <a:ext cx="5486400" cy="5486400"/>
          </a:xfrm>
          <a:prstGeom prst="ellipse">
            <a:avLst/>
          </a:prstGeom>
          <a:solidFill>
            <a:srgbClr val="132A4E"/>
          </a:solidFill>
          <a:ln/>
        </p:spPr>
      </p:sp>
      <p:sp>
        <p:nvSpPr>
          <p:cNvPr id="3" name="Shape 1"/>
          <p:cNvSpPr/>
          <p:nvPr/>
        </p:nvSpPr>
        <p:spPr>
          <a:xfrm>
            <a:off x="822960" y="822960"/>
            <a:ext cx="822960" cy="822960"/>
          </a:xfrm>
          <a:prstGeom prst="ellipse">
            <a:avLst/>
          </a:prstGeom>
          <a:solidFill>
            <a:srgbClr val="27E0C4"/>
          </a:solidFill>
          <a:ln/>
        </p:spPr>
      </p:sp>
      <p:pic>
        <p:nvPicPr>
          <p:cNvPr id="4" name="Image 0" descr="preencoded.png"/>
          <p:cNvPicPr>
            <a:picLocks noChangeAspect="1"/>
          </p:cNvPicPr>
          <p:nvPr/>
        </p:nvPicPr>
        <p:blipFill>
          <a:blip r:embed="rId3"/>
          <a:stretch>
            <a:fillRect/>
          </a:stretch>
        </p:blipFill>
        <p:spPr>
          <a:xfrm>
            <a:off x="929945" y="929945"/>
            <a:ext cx="608990" cy="608990"/>
          </a:xfrm>
          <a:prstGeom prst="rect">
            <a:avLst/>
          </a:prstGeom>
        </p:spPr>
      </p:pic>
      <p:sp>
        <p:nvSpPr>
          <p:cNvPr id="5" name="Text 2"/>
          <p:cNvSpPr txBox="1"/>
          <p:nvPr/>
        </p:nvSpPr>
        <p:spPr>
          <a:xfrm>
            <a:off x="822960" y="1828800"/>
            <a:ext cx="8229600" cy="548640"/>
          </a:xfrm>
          <a:prstGeom prst="rect">
            <a:avLst/>
          </a:prstGeom>
          <a:noFill/>
          <a:ln/>
        </p:spPr>
        <p:txBody>
          <a:bodyPr wrap="square" rtlCol="0" anchor="ctr"/>
          <a:lstStyle/>
          <a:p>
            <a:pPr marL="0" indent="0">
              <a:buNone/>
            </a:pPr>
            <a:r>
              <a:rPr lang="en-US" sz="1400" b="1" kern="0" spc="200" dirty="0">
                <a:solidFill>
                  <a:srgbClr val="27E0C4"/>
                </a:solidFill>
                <a:latin typeface="Calibri" pitchFamily="34" charset="0"/>
                <a:ea typeface="Calibri" pitchFamily="34" charset="-122"/>
                <a:cs typeface="Calibri" pitchFamily="34" charset="-120"/>
              </a:rPr>
              <a:t>Key Takeaway</a:t>
            </a:r>
            <a:endParaRPr lang="en-US" sz="1400" dirty="0"/>
          </a:p>
        </p:txBody>
      </p:sp>
      <p:sp>
        <p:nvSpPr>
          <p:cNvPr id="6" name="Text 3"/>
          <p:cNvSpPr txBox="1"/>
          <p:nvPr/>
        </p:nvSpPr>
        <p:spPr>
          <a:xfrm>
            <a:off x="822960" y="2286000"/>
            <a:ext cx="9875520" cy="1554480"/>
          </a:xfrm>
          <a:prstGeom prst="rect">
            <a:avLst/>
          </a:prstGeom>
          <a:noFill/>
          <a:ln/>
        </p:spPr>
        <p:txBody>
          <a:bodyPr wrap="square" rtlCol="0" anchor="ctr"/>
          <a:lstStyle/>
          <a:p>
            <a:pPr marL="0" indent="0">
              <a:lnSpc>
                <a:spcPct val="115000"/>
              </a:lnSpc>
              <a:buNone/>
            </a:pPr>
            <a:r>
              <a:rPr lang="en-US" sz="3000" b="1" dirty="0">
                <a:solidFill>
                  <a:srgbClr val="FFFFFF"/>
                </a:solidFill>
                <a:latin typeface="Cambria" pitchFamily="34" charset="0"/>
                <a:ea typeface="Cambria" pitchFamily="34" charset="-122"/>
                <a:cs typeface="Cambria" pitchFamily="34" charset="-120"/>
              </a:rPr>
              <a:t>Spot VMs turn idle Azure capacity into</a:t>
            </a:r>
            <a:endParaRPr lang="en-US" sz="3000" dirty="0"/>
          </a:p>
          <a:p>
            <a:pPr marL="0" indent="0">
              <a:lnSpc>
                <a:spcPct val="115000"/>
              </a:lnSpc>
              <a:buNone/>
            </a:pPr>
            <a:r>
              <a:rPr lang="en-US" sz="3000" b="1" dirty="0">
                <a:solidFill>
                  <a:srgbClr val="FFFFFF"/>
                </a:solidFill>
                <a:latin typeface="Cambria" pitchFamily="34" charset="0"/>
                <a:ea typeface="Cambria" pitchFamily="34" charset="-122"/>
                <a:cs typeface="Cambria" pitchFamily="34" charset="-120"/>
              </a:rPr>
              <a:t>significant savings for flexible workloads.</a:t>
            </a:r>
            <a:endParaRPr lang="en-US" sz="3000" dirty="0"/>
          </a:p>
        </p:txBody>
      </p:sp>
      <p:sp>
        <p:nvSpPr>
          <p:cNvPr id="7" name="Text 4"/>
          <p:cNvSpPr txBox="1"/>
          <p:nvPr/>
        </p:nvSpPr>
        <p:spPr>
          <a:xfrm>
            <a:off x="822960" y="3977640"/>
            <a:ext cx="8686800" cy="822960"/>
          </a:xfrm>
          <a:prstGeom prst="rect">
            <a:avLst/>
          </a:prstGeom>
          <a:noFill/>
          <a:ln/>
        </p:spPr>
        <p:txBody>
          <a:bodyPr wrap="square" rtlCol="0" anchor="ctr"/>
          <a:lstStyle/>
          <a:p>
            <a:pPr marL="0" indent="0">
              <a:buNone/>
            </a:pPr>
            <a:r>
              <a:rPr lang="en-US" sz="1500" dirty="0">
                <a:solidFill>
                  <a:srgbClr val="C7D6EA"/>
                </a:solidFill>
                <a:latin typeface="Calibri" pitchFamily="34" charset="0"/>
                <a:ea typeface="Calibri" pitchFamily="34" charset="-122"/>
                <a:cs typeface="Calibri" pitchFamily="34" charset="-120"/>
              </a:rPr>
              <a:t>Design for interruption — checkpoint, automate retries, and diversify — and Spot VMs become a reliable, high-value part of your cloud cost strategy.</a:t>
            </a:r>
            <a:endParaRPr lang="en-US" sz="1500" dirty="0"/>
          </a:p>
        </p:txBody>
      </p:sp>
      <p:sp>
        <p:nvSpPr>
          <p:cNvPr id="8" name="Shape 5"/>
          <p:cNvSpPr/>
          <p:nvPr/>
        </p:nvSpPr>
        <p:spPr>
          <a:xfrm>
            <a:off x="822960" y="5120640"/>
            <a:ext cx="1097280" cy="0"/>
          </a:xfrm>
          <a:prstGeom prst="line">
            <a:avLst/>
          </a:prstGeom>
          <a:noFill/>
          <a:ln w="38100">
            <a:solidFill>
              <a:srgbClr val="27E0C4"/>
            </a:solidFill>
            <a:prstDash val="solid"/>
          </a:ln>
        </p:spPr>
      </p:sp>
      <p:sp>
        <p:nvSpPr>
          <p:cNvPr id="9" name="Text 6"/>
          <p:cNvSpPr txBox="1"/>
          <p:nvPr/>
        </p:nvSpPr>
        <p:spPr>
          <a:xfrm>
            <a:off x="822960" y="5303520"/>
            <a:ext cx="7315200" cy="457200"/>
          </a:xfrm>
          <a:prstGeom prst="rect">
            <a:avLst/>
          </a:prstGeom>
          <a:noFill/>
          <a:ln/>
        </p:spPr>
        <p:txBody>
          <a:bodyPr wrap="square" rtlCol="0" anchor="ctr"/>
          <a:lstStyle/>
          <a:p>
            <a:pPr marL="0" indent="0">
              <a:buNone/>
            </a:pPr>
            <a:r>
              <a:rPr lang="en-US" sz="1600" dirty="0">
                <a:solidFill>
                  <a:srgbClr val="FFFFFF"/>
                </a:solidFill>
                <a:latin typeface="Calibri" pitchFamily="34" charset="0"/>
                <a:ea typeface="Calibri" pitchFamily="34" charset="-122"/>
                <a:cs typeface="Calibri" pitchFamily="34" charset="-120"/>
              </a:rPr>
              <a:t>Thank </a:t>
            </a:r>
            <a:r>
              <a:rPr lang="en-US" sz="1600">
                <a:solidFill>
                  <a:srgbClr val="FFFFFF"/>
                </a:solidFill>
                <a:latin typeface="Calibri" pitchFamily="34" charset="0"/>
                <a:ea typeface="Calibri" pitchFamily="34" charset="-122"/>
                <a:cs typeface="Calibri" pitchFamily="34" charset="-120"/>
              </a:rPr>
              <a:t>you </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757</Words>
  <Application>Microsoft Office PowerPoint</Application>
  <PresentationFormat>Widescreen</PresentationFormat>
  <Paragraphs>120</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pokalaseshagirirao3@outlook.com</cp:lastModifiedBy>
  <cp:revision>3</cp:revision>
  <dcterms:created xsi:type="dcterms:W3CDTF">2026-09-26T21:46:32Z</dcterms:created>
  <dcterms:modified xsi:type="dcterms:W3CDTF">2026-09-27T03:01:20Z</dcterms:modified>
</cp:coreProperties>
</file>